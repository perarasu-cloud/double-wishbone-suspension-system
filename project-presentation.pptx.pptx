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67" r:id="rId3"/>
    <p:sldId id="268" r:id="rId4"/>
    <p:sldId id="269" r:id="rId5"/>
    <p:sldId id="266" r:id="rId6"/>
    <p:sldId id="270" r:id="rId7"/>
    <p:sldId id="271" r:id="rId8"/>
    <p:sldId id="272" r:id="rId9"/>
    <p:sldId id="273" r:id="rId10"/>
    <p:sldId id="274" r:id="rId11"/>
    <p:sldId id="275" r:id="rId12"/>
    <p:sldId id="276" r:id="rId13"/>
    <p:sldId id="277" r:id="rId14"/>
    <p:sldId id="278" r:id="rId15"/>
    <p:sldId id="279" r:id="rId16"/>
    <p:sldId id="280" r:id="rId17"/>
    <p:sldId id="281" r:id="rId18"/>
    <p:sldId id="284" r:id="rId19"/>
    <p:sldId id="282" r:id="rId20"/>
    <p:sldId id="283" r:id="rId21"/>
    <p:sldId id="285" r:id="rId22"/>
    <p:sldId id="286" r:id="rId23"/>
    <p:sldId id="287" r:id="rId24"/>
    <p:sldId id="288" r:id="rId25"/>
    <p:sldId id="289" r:id="rId26"/>
    <p:sldId id="290" r:id="rId27"/>
    <p:sldId id="291" r:id="rId28"/>
    <p:sldId id="292" r:id="rId29"/>
    <p:sldId id="293" r:id="rId30"/>
    <p:sldId id="294" r:id="rId31"/>
    <p:sldId id="295"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633974FC-6346-499B-B1E5-EA0B83AA67A0}">
          <p14:sldIdLst>
            <p14:sldId id="267"/>
            <p14:sldId id="268"/>
            <p14:sldId id="269"/>
            <p14:sldId id="266"/>
            <p14:sldId id="270"/>
            <p14:sldId id="271"/>
            <p14:sldId id="272"/>
            <p14:sldId id="273"/>
            <p14:sldId id="274"/>
            <p14:sldId id="275"/>
            <p14:sldId id="276"/>
            <p14:sldId id="277"/>
            <p14:sldId id="278"/>
            <p14:sldId id="279"/>
            <p14:sldId id="280"/>
            <p14:sldId id="281"/>
            <p14:sldId id="284"/>
            <p14:sldId id="282"/>
            <p14:sldId id="283"/>
            <p14:sldId id="285"/>
            <p14:sldId id="286"/>
            <p14:sldId id="287"/>
            <p14:sldId id="288"/>
            <p14:sldId id="289"/>
            <p14:sldId id="290"/>
            <p14:sldId id="291"/>
            <p14:sldId id="292"/>
            <p14:sldId id="293"/>
            <p14:sldId id="294"/>
            <p14:sldId id="295"/>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91" d="100"/>
          <a:sy n="91" d="100"/>
        </p:scale>
        <p:origin x="32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5" Type="http://schemas.openxmlformats.org/officeDocument/2006/relationships/tableStyles" Target="tableStyles.xml"/><Relationship Id="rId34" Type="http://schemas.openxmlformats.org/officeDocument/2006/relationships/viewProps" Target="viewProps.xml"/><Relationship Id="rId33" Type="http://schemas.openxmlformats.org/officeDocument/2006/relationships/presProps" Target="presProps.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430887"/>
          </a:xfrm>
          <a:prstGeom prst="rect">
            <a:avLst/>
          </a:prstGeom>
        </p:spPr>
        <p:txBody>
          <a:bodyPr wrap="square" lIns="0" tIns="0" rIns="0" bIns="0">
            <a:spAutoFit/>
          </a:bodyPr>
          <a:lstStyle>
            <a:lvl1pPr>
              <a:defRPr sz="2800" b="1" i="0">
                <a:solidFill>
                  <a:schemeClr val="tx1"/>
                </a:solidFill>
                <a:latin typeface="Arial" panose="020B0604020202020204"/>
                <a:cs typeface="Arial" panose="020B0604020202020204"/>
              </a:defRPr>
            </a:lvl1pPr>
          </a:lstStyle>
          <a:p>
            <a:r>
              <a:rPr lang="en-US"/>
              <a:t>Click to edit Master title style</a:t>
            </a:r>
            <a:endParaRPr lang="en-US"/>
          </a:p>
        </p:txBody>
      </p:sp>
      <p:sp>
        <p:nvSpPr>
          <p:cNvPr id="3" name="Holder 3"/>
          <p:cNvSpPr>
            <a:spLocks noGrp="1"/>
          </p:cNvSpPr>
          <p:nvPr>
            <p:ph type="subTitle" idx="4"/>
          </p:nvPr>
        </p:nvSpPr>
        <p:spPr>
          <a:xfrm>
            <a:off x="1828800" y="3840480"/>
            <a:ext cx="8534400" cy="307777"/>
          </a:xfrm>
          <a:prstGeom prst="rect">
            <a:avLst/>
          </a:prstGeom>
        </p:spPr>
        <p:txBody>
          <a:bodyPr wrap="square" lIns="0" tIns="0" rIns="0" bIns="0">
            <a:spAutoFit/>
          </a:bodyPr>
          <a:lstStyle>
            <a:lvl1pPr>
              <a:defRPr sz="2000" b="0" i="0">
                <a:solidFill>
                  <a:schemeClr val="tx1"/>
                </a:solidFill>
                <a:latin typeface="Times New Roman" panose="02020603050405020304"/>
                <a:cs typeface="Times New Roman" panose="02020603050405020304"/>
              </a:defRPr>
            </a:lvl1pPr>
          </a:lstStyle>
          <a:p>
            <a:r>
              <a:rPr lang="en-US"/>
              <a:t>Click to edit Master subtitle style</a:t>
            </a:r>
            <a:endParaRPr lang="en-US"/>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lang="en-IN"/>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63208E8-5DF1-4BC2-905D-BC652DCE4432}" type="datetimeFigureOut">
              <a:rPr lang="en-IN" smtClean="0"/>
            </a:fld>
            <a:endParaRPr lang="en-IN"/>
          </a:p>
        </p:txBody>
      </p:sp>
      <p:sp>
        <p:nvSpPr>
          <p:cNvPr id="6" name="Holder 6"/>
          <p:cNvSpPr>
            <a:spLocks noGrp="1"/>
          </p:cNvSpPr>
          <p:nvPr>
            <p:ph type="sldNum" sz="quarter" idx="7"/>
          </p:nvPr>
        </p:nvSpPr>
        <p:spPr/>
        <p:txBody>
          <a:bodyPr lIns="0" tIns="0" rIns="0" bIns="0"/>
          <a:lstStyle>
            <a:lvl1pPr>
              <a:defRPr sz="1400" b="0" i="0">
                <a:solidFill>
                  <a:schemeClr val="bg1"/>
                </a:solidFill>
                <a:latin typeface="Arial MT"/>
                <a:cs typeface="Arial MT"/>
              </a:defRPr>
            </a:lvl1pPr>
          </a:lstStyle>
          <a:p>
            <a:fld id="{54B2A48A-CEB6-447B-8DFF-0C79424D2243}" type="slidenum">
              <a:rPr lang="en-IN" smtClean="0"/>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chemeClr val="tx1"/>
                </a:solidFill>
                <a:latin typeface="Arial" panose="020B0604020202020204"/>
                <a:cs typeface="Arial" panose="020B0604020202020204"/>
              </a:defRPr>
            </a:lvl1pPr>
          </a:lstStyle>
          <a:p>
            <a:r>
              <a:rPr lang="en-US"/>
              <a:t>Click to edit Master title style</a:t>
            </a:r>
            <a:endParaRPr lang="en-US"/>
          </a:p>
        </p:txBody>
      </p:sp>
      <p:sp>
        <p:nvSpPr>
          <p:cNvPr id="3" name="Holder 3"/>
          <p:cNvSpPr>
            <a:spLocks noGrp="1"/>
          </p:cNvSpPr>
          <p:nvPr>
            <p:ph type="body" idx="1"/>
          </p:nvPr>
        </p:nvSpPr>
        <p:spPr/>
        <p:txBody>
          <a:bodyPr lIns="0" tIns="0" rIns="0" bIns="0"/>
          <a:lstStyle>
            <a:lvl1pPr>
              <a:defRPr sz="2000" b="0" i="0">
                <a:solidFill>
                  <a:schemeClr val="tx1"/>
                </a:solidFill>
                <a:latin typeface="Times New Roman" panose="02020603050405020304"/>
                <a:cs typeface="Times New Roman" panose="02020603050405020304"/>
              </a:defRPr>
            </a:lvl1pPr>
          </a:lstStyle>
          <a:p>
            <a:pPr lvl="0"/>
            <a:r>
              <a:rPr lang="en-US"/>
              <a:t>Click to edit Master text styles</a:t>
            </a:r>
            <a:endParaRPr lang="en-US"/>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lang="en-IN"/>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63208E8-5DF1-4BC2-905D-BC652DCE4432}" type="datetimeFigureOut">
              <a:rPr lang="en-IN" smtClean="0"/>
            </a:fld>
            <a:endParaRPr lang="en-IN"/>
          </a:p>
        </p:txBody>
      </p:sp>
      <p:sp>
        <p:nvSpPr>
          <p:cNvPr id="6" name="Holder 6"/>
          <p:cNvSpPr>
            <a:spLocks noGrp="1"/>
          </p:cNvSpPr>
          <p:nvPr>
            <p:ph type="sldNum" sz="quarter" idx="7"/>
          </p:nvPr>
        </p:nvSpPr>
        <p:spPr/>
        <p:txBody>
          <a:bodyPr lIns="0" tIns="0" rIns="0" bIns="0"/>
          <a:lstStyle>
            <a:lvl1pPr>
              <a:defRPr sz="1400" b="0" i="0">
                <a:solidFill>
                  <a:schemeClr val="bg1"/>
                </a:solidFill>
                <a:latin typeface="Arial MT"/>
                <a:cs typeface="Arial MT"/>
              </a:defRPr>
            </a:lvl1pPr>
          </a:lstStyle>
          <a:p>
            <a:fld id="{54B2A48A-CEB6-447B-8DFF-0C79424D2243}" type="slidenum">
              <a:rPr lang="en-IN" smtClean="0"/>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chemeClr val="tx1"/>
                </a:solidFill>
                <a:latin typeface="Arial" panose="020B0604020202020204"/>
                <a:cs typeface="Arial" panose="020B0604020202020204"/>
              </a:defRPr>
            </a:lvl1pPr>
          </a:lstStyle>
          <a:p>
            <a:r>
              <a:rPr lang="en-US"/>
              <a:t>Click to edit Master title style</a:t>
            </a:r>
            <a:endParaRPr lang="en-US"/>
          </a:p>
        </p:txBody>
      </p:sp>
      <p:sp>
        <p:nvSpPr>
          <p:cNvPr id="3" name="Holder 3"/>
          <p:cNvSpPr>
            <a:spLocks noGrp="1"/>
          </p:cNvSpPr>
          <p:nvPr>
            <p:ph sz="half" idx="2"/>
          </p:nvPr>
        </p:nvSpPr>
        <p:spPr>
          <a:xfrm>
            <a:off x="609600" y="1577340"/>
            <a:ext cx="5303520" cy="307777"/>
          </a:xfrm>
          <a:prstGeom prst="rect">
            <a:avLst/>
          </a:prstGeom>
        </p:spPr>
        <p:txBody>
          <a:bodyPr wrap="square" lIns="0" tIns="0" rIns="0" bIns="0">
            <a:spAutoFit/>
          </a:bodyPr>
          <a:lstStyle>
            <a:lvl1pPr>
              <a:defRPr/>
            </a:lvl1pPr>
          </a:lstStyle>
          <a:p>
            <a:pPr lvl="0"/>
            <a:r>
              <a:rPr lang="en-US"/>
              <a:t>Click to edit Master text styles</a:t>
            </a:r>
            <a:endParaRPr lang="en-US"/>
          </a:p>
        </p:txBody>
      </p:sp>
      <p:sp>
        <p:nvSpPr>
          <p:cNvPr id="4" name="Holder 4"/>
          <p:cNvSpPr>
            <a:spLocks noGrp="1"/>
          </p:cNvSpPr>
          <p:nvPr>
            <p:ph sz="half" idx="3"/>
          </p:nvPr>
        </p:nvSpPr>
        <p:spPr>
          <a:xfrm>
            <a:off x="6278880" y="1577340"/>
            <a:ext cx="5303520" cy="307777"/>
          </a:xfrm>
          <a:prstGeom prst="rect">
            <a:avLst/>
          </a:prstGeom>
        </p:spPr>
        <p:txBody>
          <a:bodyPr wrap="square" lIns="0" tIns="0" rIns="0" bIns="0">
            <a:spAutoFit/>
          </a:bodyPr>
          <a:lstStyle>
            <a:lvl1pPr>
              <a:defRPr/>
            </a:lvl1pPr>
          </a:lstStyle>
          <a:p>
            <a:pPr lvl="0"/>
            <a:r>
              <a:rPr lang="en-US"/>
              <a:t>Click to edit Master text styles</a:t>
            </a:r>
            <a:endParaRPr lang="en-US"/>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lang="en-IN"/>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63208E8-5DF1-4BC2-905D-BC652DCE4432}" type="datetimeFigureOut">
              <a:rPr lang="en-IN" smtClean="0"/>
            </a:fld>
            <a:endParaRPr lang="en-IN"/>
          </a:p>
        </p:txBody>
      </p:sp>
      <p:sp>
        <p:nvSpPr>
          <p:cNvPr id="7" name="Holder 7"/>
          <p:cNvSpPr>
            <a:spLocks noGrp="1"/>
          </p:cNvSpPr>
          <p:nvPr>
            <p:ph type="sldNum" sz="quarter" idx="7"/>
          </p:nvPr>
        </p:nvSpPr>
        <p:spPr/>
        <p:txBody>
          <a:bodyPr lIns="0" tIns="0" rIns="0" bIns="0"/>
          <a:lstStyle>
            <a:lvl1pPr>
              <a:defRPr sz="1400" b="0" i="0">
                <a:solidFill>
                  <a:schemeClr val="bg1"/>
                </a:solidFill>
                <a:latin typeface="Arial MT"/>
                <a:cs typeface="Arial MT"/>
              </a:defRPr>
            </a:lvl1pPr>
          </a:lstStyle>
          <a:p>
            <a:fld id="{54B2A48A-CEB6-447B-8DFF-0C79424D2243}" type="slidenum">
              <a:rPr lang="en-IN" smtClean="0"/>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chemeClr val="tx1"/>
                </a:solidFill>
                <a:latin typeface="Arial" panose="020B0604020202020204"/>
                <a:cs typeface="Arial" panose="020B0604020202020204"/>
              </a:defRPr>
            </a:lvl1pPr>
          </a:lstStyle>
          <a:p>
            <a:r>
              <a:rPr lang="en-US"/>
              <a:t>Click to edit Master title style</a:t>
            </a:r>
            <a:endParaRPr lang="en-US"/>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lang="en-IN"/>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63208E8-5DF1-4BC2-905D-BC652DCE4432}" type="datetimeFigureOut">
              <a:rPr lang="en-IN" smtClean="0"/>
            </a:fld>
            <a:endParaRPr lang="en-IN"/>
          </a:p>
        </p:txBody>
      </p:sp>
      <p:sp>
        <p:nvSpPr>
          <p:cNvPr id="5" name="Holder 5"/>
          <p:cNvSpPr>
            <a:spLocks noGrp="1"/>
          </p:cNvSpPr>
          <p:nvPr>
            <p:ph type="sldNum" sz="quarter" idx="7"/>
          </p:nvPr>
        </p:nvSpPr>
        <p:spPr/>
        <p:txBody>
          <a:bodyPr lIns="0" tIns="0" rIns="0" bIns="0"/>
          <a:lstStyle>
            <a:lvl1pPr>
              <a:defRPr sz="1400" b="0" i="0">
                <a:solidFill>
                  <a:schemeClr val="bg1"/>
                </a:solidFill>
                <a:latin typeface="Arial MT"/>
                <a:cs typeface="Arial MT"/>
              </a:defRPr>
            </a:lvl1pPr>
          </a:lstStyle>
          <a:p>
            <a:fld id="{54B2A48A-CEB6-447B-8DFF-0C79424D2243}" type="slidenum">
              <a:rPr lang="en-IN" smtClean="0"/>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showMasterSp="0">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2115" y="-1587"/>
            <a:ext cx="12196233" cy="6861175"/>
          </a:xfrm>
          <a:custGeom>
            <a:avLst/>
            <a:gdLst/>
            <a:ahLst/>
            <a:cxnLst/>
            <a:rect l="l" t="t" r="r" b="b"/>
            <a:pathLst>
              <a:path w="9147175" h="6861175">
                <a:moveTo>
                  <a:pt x="0" y="6861175"/>
                </a:moveTo>
                <a:lnTo>
                  <a:pt x="9147175" y="6861175"/>
                </a:lnTo>
                <a:lnTo>
                  <a:pt x="9147175" y="0"/>
                </a:lnTo>
                <a:lnTo>
                  <a:pt x="0" y="0"/>
                </a:lnTo>
                <a:lnTo>
                  <a:pt x="0" y="6861175"/>
                </a:lnTo>
                <a:close/>
              </a:path>
            </a:pathLst>
          </a:custGeom>
          <a:ln w="3175">
            <a:solidFill>
              <a:srgbClr val="000000"/>
            </a:solidFill>
          </a:ln>
        </p:spPr>
        <p:txBody>
          <a:bodyPr wrap="square" lIns="0" tIns="0" rIns="0" bIns="0" rtlCol="0"/>
          <a:lstStyle/>
          <a:p>
            <a:endParaRPr sz="1800"/>
          </a:p>
        </p:txBody>
      </p:sp>
      <p:sp>
        <p:nvSpPr>
          <p:cNvPr id="17" name="bg object 17"/>
          <p:cNvSpPr/>
          <p:nvPr/>
        </p:nvSpPr>
        <p:spPr>
          <a:xfrm>
            <a:off x="0" y="6286500"/>
            <a:ext cx="12192000" cy="571500"/>
          </a:xfrm>
          <a:custGeom>
            <a:avLst/>
            <a:gdLst/>
            <a:ahLst/>
            <a:cxnLst/>
            <a:rect l="l" t="t" r="r" b="b"/>
            <a:pathLst>
              <a:path w="9144000" h="571500">
                <a:moveTo>
                  <a:pt x="9144000" y="0"/>
                </a:moveTo>
                <a:lnTo>
                  <a:pt x="0" y="0"/>
                </a:lnTo>
                <a:lnTo>
                  <a:pt x="0" y="571500"/>
                </a:lnTo>
                <a:lnTo>
                  <a:pt x="9144000" y="571500"/>
                </a:lnTo>
                <a:lnTo>
                  <a:pt x="9144000" y="0"/>
                </a:lnTo>
                <a:close/>
              </a:path>
            </a:pathLst>
          </a:custGeom>
          <a:solidFill>
            <a:srgbClr val="262673"/>
          </a:solidFill>
        </p:spPr>
        <p:txBody>
          <a:bodyPr wrap="square" lIns="0" tIns="0" rIns="0" bIns="0" rtlCol="0"/>
          <a:lstStyle/>
          <a:p>
            <a:endParaRPr sz="1800"/>
          </a:p>
        </p:txBody>
      </p:sp>
      <p:sp>
        <p:nvSpPr>
          <p:cNvPr id="18" name="bg object 18"/>
          <p:cNvSpPr/>
          <p:nvPr/>
        </p:nvSpPr>
        <p:spPr>
          <a:xfrm>
            <a:off x="0" y="6286500"/>
            <a:ext cx="12192000" cy="571500"/>
          </a:xfrm>
          <a:custGeom>
            <a:avLst/>
            <a:gdLst/>
            <a:ahLst/>
            <a:cxnLst/>
            <a:rect l="l" t="t" r="r" b="b"/>
            <a:pathLst>
              <a:path w="9144000" h="571500">
                <a:moveTo>
                  <a:pt x="0" y="571500"/>
                </a:moveTo>
                <a:lnTo>
                  <a:pt x="0" y="0"/>
                </a:lnTo>
                <a:lnTo>
                  <a:pt x="9144000" y="0"/>
                </a:lnTo>
                <a:lnTo>
                  <a:pt x="9144000" y="571500"/>
                </a:lnTo>
              </a:path>
            </a:pathLst>
          </a:custGeom>
          <a:ln w="9525">
            <a:solidFill>
              <a:srgbClr val="000000"/>
            </a:solidFill>
          </a:ln>
        </p:spPr>
        <p:txBody>
          <a:bodyPr wrap="square" lIns="0" tIns="0" rIns="0" bIns="0" rtlCol="0"/>
          <a:lstStyle/>
          <a:p>
            <a:endParaRPr sz="1800"/>
          </a:p>
        </p:txBody>
      </p:sp>
      <p:pic>
        <p:nvPicPr>
          <p:cNvPr id="19" name="bg object 19"/>
          <p:cNvPicPr/>
          <p:nvPr/>
        </p:nvPicPr>
        <p:blipFill>
          <a:blip r:embed="rId2" cstate="print"/>
          <a:stretch>
            <a:fillRect/>
          </a:stretch>
        </p:blipFill>
        <p:spPr>
          <a:xfrm>
            <a:off x="47366" y="40317"/>
            <a:ext cx="1247293" cy="689428"/>
          </a:xfrm>
          <a:prstGeom prst="rect">
            <a:avLst/>
          </a:prstGeom>
        </p:spPr>
      </p:pic>
      <p:sp>
        <p:nvSpPr>
          <p:cNvPr id="20" name="bg object 20"/>
          <p:cNvSpPr/>
          <p:nvPr/>
        </p:nvSpPr>
        <p:spPr>
          <a:xfrm>
            <a:off x="0" y="827087"/>
            <a:ext cx="12192000" cy="119380"/>
          </a:xfrm>
          <a:custGeom>
            <a:avLst/>
            <a:gdLst/>
            <a:ahLst/>
            <a:cxnLst/>
            <a:rect l="l" t="t" r="r" b="b"/>
            <a:pathLst>
              <a:path w="9144000" h="119380">
                <a:moveTo>
                  <a:pt x="9144000" y="0"/>
                </a:moveTo>
                <a:lnTo>
                  <a:pt x="0" y="0"/>
                </a:lnTo>
                <a:lnTo>
                  <a:pt x="0" y="119062"/>
                </a:lnTo>
                <a:lnTo>
                  <a:pt x="9144000" y="119062"/>
                </a:lnTo>
                <a:lnTo>
                  <a:pt x="9144000" y="0"/>
                </a:lnTo>
                <a:close/>
              </a:path>
            </a:pathLst>
          </a:custGeom>
          <a:solidFill>
            <a:srgbClr val="262673"/>
          </a:solidFill>
        </p:spPr>
        <p:txBody>
          <a:bodyPr wrap="square" lIns="0" tIns="0" rIns="0" bIns="0" rtlCol="0"/>
          <a:lstStyle/>
          <a:p>
            <a:endParaRPr sz="1800"/>
          </a:p>
        </p:txBody>
      </p:sp>
      <p:sp>
        <p:nvSpPr>
          <p:cNvPr id="21" name="bg object 21"/>
          <p:cNvSpPr/>
          <p:nvPr/>
        </p:nvSpPr>
        <p:spPr>
          <a:xfrm>
            <a:off x="0" y="827087"/>
            <a:ext cx="12192000" cy="119380"/>
          </a:xfrm>
          <a:custGeom>
            <a:avLst/>
            <a:gdLst/>
            <a:ahLst/>
            <a:cxnLst/>
            <a:rect l="l" t="t" r="r" b="b"/>
            <a:pathLst>
              <a:path w="9144000" h="119380">
                <a:moveTo>
                  <a:pt x="0" y="0"/>
                </a:moveTo>
                <a:lnTo>
                  <a:pt x="9144000" y="0"/>
                </a:lnTo>
                <a:lnTo>
                  <a:pt x="9144000" y="119062"/>
                </a:lnTo>
                <a:lnTo>
                  <a:pt x="0" y="119062"/>
                </a:lnTo>
                <a:lnTo>
                  <a:pt x="0" y="0"/>
                </a:lnTo>
                <a:close/>
              </a:path>
            </a:pathLst>
          </a:custGeom>
          <a:ln w="9525">
            <a:solidFill>
              <a:srgbClr val="000000"/>
            </a:solidFill>
          </a:ln>
        </p:spPr>
        <p:txBody>
          <a:bodyPr wrap="square" lIns="0" tIns="0" rIns="0" bIns="0" rtlCol="0"/>
          <a:lstStyle/>
          <a:p>
            <a:endParaRPr sz="1800"/>
          </a:p>
        </p:txBody>
      </p:sp>
      <p:pic>
        <p:nvPicPr>
          <p:cNvPr id="22" name="bg object 22"/>
          <p:cNvPicPr/>
          <p:nvPr/>
        </p:nvPicPr>
        <p:blipFill>
          <a:blip r:embed="rId3" cstate="print"/>
          <a:stretch>
            <a:fillRect/>
          </a:stretch>
        </p:blipFill>
        <p:spPr>
          <a:xfrm>
            <a:off x="9935634" y="20637"/>
            <a:ext cx="2256367" cy="793750"/>
          </a:xfrm>
          <a:prstGeom prst="rect">
            <a:avLst/>
          </a:prstGeom>
        </p:spPr>
      </p:pic>
      <p:sp>
        <p:nvSpPr>
          <p:cNvPr id="23" name="bg object 23"/>
          <p:cNvSpPr/>
          <p:nvPr/>
        </p:nvSpPr>
        <p:spPr>
          <a:xfrm>
            <a:off x="233183" y="1304148"/>
            <a:ext cx="2125980" cy="1920239"/>
          </a:xfrm>
          <a:custGeom>
            <a:avLst/>
            <a:gdLst/>
            <a:ahLst/>
            <a:cxnLst/>
            <a:rect l="l" t="t" r="r" b="b"/>
            <a:pathLst>
              <a:path w="1594485" h="1920239">
                <a:moveTo>
                  <a:pt x="0" y="0"/>
                </a:moveTo>
                <a:lnTo>
                  <a:pt x="1594018" y="0"/>
                </a:lnTo>
                <a:lnTo>
                  <a:pt x="1594018" y="1920081"/>
                </a:lnTo>
                <a:lnTo>
                  <a:pt x="0" y="1920081"/>
                </a:lnTo>
                <a:lnTo>
                  <a:pt x="0" y="0"/>
                </a:lnTo>
                <a:close/>
              </a:path>
            </a:pathLst>
          </a:custGeom>
          <a:solidFill>
            <a:srgbClr val="C00000"/>
          </a:solidFill>
        </p:spPr>
        <p:txBody>
          <a:bodyPr wrap="square" lIns="0" tIns="0" rIns="0" bIns="0" rtlCol="0"/>
          <a:lstStyle/>
          <a:p>
            <a:endParaRPr sz="1800"/>
          </a:p>
        </p:txBody>
      </p:sp>
      <p:sp>
        <p:nvSpPr>
          <p:cNvPr id="24" name="bg object 24"/>
          <p:cNvSpPr/>
          <p:nvPr/>
        </p:nvSpPr>
        <p:spPr>
          <a:xfrm>
            <a:off x="2716243" y="1304150"/>
            <a:ext cx="2109893" cy="1920239"/>
          </a:xfrm>
          <a:custGeom>
            <a:avLst/>
            <a:gdLst/>
            <a:ahLst/>
            <a:cxnLst/>
            <a:rect l="l" t="t" r="r" b="b"/>
            <a:pathLst>
              <a:path w="1582420" h="1920239">
                <a:moveTo>
                  <a:pt x="1582094" y="0"/>
                </a:moveTo>
                <a:lnTo>
                  <a:pt x="0" y="0"/>
                </a:lnTo>
                <a:lnTo>
                  <a:pt x="0" y="1920079"/>
                </a:lnTo>
                <a:lnTo>
                  <a:pt x="1582094" y="1920079"/>
                </a:lnTo>
                <a:lnTo>
                  <a:pt x="1582094" y="0"/>
                </a:lnTo>
                <a:close/>
              </a:path>
            </a:pathLst>
          </a:custGeom>
          <a:solidFill>
            <a:srgbClr val="FF0000"/>
          </a:solidFill>
        </p:spPr>
        <p:txBody>
          <a:bodyPr wrap="square" lIns="0" tIns="0" rIns="0" bIns="0" rtlCol="0"/>
          <a:lstStyle/>
          <a:p>
            <a:endParaRPr sz="1800"/>
          </a:p>
        </p:txBody>
      </p:sp>
      <p:sp>
        <p:nvSpPr>
          <p:cNvPr id="25" name="bg object 25"/>
          <p:cNvSpPr/>
          <p:nvPr/>
        </p:nvSpPr>
        <p:spPr>
          <a:xfrm>
            <a:off x="5145649" y="1304148"/>
            <a:ext cx="2071793" cy="1920239"/>
          </a:xfrm>
          <a:custGeom>
            <a:avLst/>
            <a:gdLst/>
            <a:ahLst/>
            <a:cxnLst/>
            <a:rect l="l" t="t" r="r" b="b"/>
            <a:pathLst>
              <a:path w="1553845" h="1920239">
                <a:moveTo>
                  <a:pt x="1553776" y="0"/>
                </a:moveTo>
                <a:lnTo>
                  <a:pt x="0" y="0"/>
                </a:lnTo>
                <a:lnTo>
                  <a:pt x="0" y="1920081"/>
                </a:lnTo>
                <a:lnTo>
                  <a:pt x="1553776" y="1920081"/>
                </a:lnTo>
                <a:lnTo>
                  <a:pt x="1553776" y="0"/>
                </a:lnTo>
                <a:close/>
              </a:path>
            </a:pathLst>
          </a:custGeom>
          <a:solidFill>
            <a:srgbClr val="00B050"/>
          </a:solidFill>
        </p:spPr>
        <p:txBody>
          <a:bodyPr wrap="square" lIns="0" tIns="0" rIns="0" bIns="0" rtlCol="0"/>
          <a:lstStyle/>
          <a:p>
            <a:endParaRPr sz="1800"/>
          </a:p>
        </p:txBody>
      </p:sp>
      <p:sp>
        <p:nvSpPr>
          <p:cNvPr id="26" name="bg object 26"/>
          <p:cNvSpPr/>
          <p:nvPr/>
        </p:nvSpPr>
        <p:spPr>
          <a:xfrm>
            <a:off x="7574558" y="1303655"/>
            <a:ext cx="2955713" cy="1898650"/>
          </a:xfrm>
          <a:custGeom>
            <a:avLst/>
            <a:gdLst/>
            <a:ahLst/>
            <a:cxnLst/>
            <a:rect l="l" t="t" r="r" b="b"/>
            <a:pathLst>
              <a:path w="2216784" h="1898650">
                <a:moveTo>
                  <a:pt x="1496124" y="0"/>
                </a:moveTo>
                <a:lnTo>
                  <a:pt x="0" y="0"/>
                </a:lnTo>
                <a:lnTo>
                  <a:pt x="0" y="1898418"/>
                </a:lnTo>
                <a:lnTo>
                  <a:pt x="2216273" y="207425"/>
                </a:lnTo>
                <a:lnTo>
                  <a:pt x="2174937" y="181110"/>
                </a:lnTo>
                <a:lnTo>
                  <a:pt x="2129914" y="156922"/>
                </a:lnTo>
                <a:lnTo>
                  <a:pt x="2084277" y="134357"/>
                </a:lnTo>
                <a:lnTo>
                  <a:pt x="2038045" y="113442"/>
                </a:lnTo>
                <a:lnTo>
                  <a:pt x="1991240" y="94204"/>
                </a:lnTo>
                <a:lnTo>
                  <a:pt x="1943881" y="76670"/>
                </a:lnTo>
                <a:lnTo>
                  <a:pt x="1895989" y="60866"/>
                </a:lnTo>
                <a:lnTo>
                  <a:pt x="1847585" y="46821"/>
                </a:lnTo>
                <a:lnTo>
                  <a:pt x="1798689" y="34561"/>
                </a:lnTo>
                <a:lnTo>
                  <a:pt x="1749321" y="24113"/>
                </a:lnTo>
                <a:lnTo>
                  <a:pt x="1699502" y="15504"/>
                </a:lnTo>
                <a:lnTo>
                  <a:pt x="1649253" y="8762"/>
                </a:lnTo>
                <a:lnTo>
                  <a:pt x="1598593" y="3912"/>
                </a:lnTo>
                <a:lnTo>
                  <a:pt x="1547543" y="982"/>
                </a:lnTo>
                <a:lnTo>
                  <a:pt x="1496124" y="0"/>
                </a:lnTo>
                <a:close/>
              </a:path>
            </a:pathLst>
          </a:custGeom>
          <a:solidFill>
            <a:srgbClr val="92D050"/>
          </a:solidFill>
        </p:spPr>
        <p:txBody>
          <a:bodyPr wrap="square" lIns="0" tIns="0" rIns="0" bIns="0" rtlCol="0"/>
          <a:lstStyle/>
          <a:p>
            <a:endParaRPr sz="1800"/>
          </a:p>
        </p:txBody>
      </p:sp>
      <p:sp>
        <p:nvSpPr>
          <p:cNvPr id="27" name="bg object 27"/>
          <p:cNvSpPr/>
          <p:nvPr/>
        </p:nvSpPr>
        <p:spPr>
          <a:xfrm>
            <a:off x="8251711" y="1712781"/>
            <a:ext cx="3608493" cy="1510665"/>
          </a:xfrm>
          <a:custGeom>
            <a:avLst/>
            <a:gdLst/>
            <a:ahLst/>
            <a:cxnLst/>
            <a:rect l="l" t="t" r="r" b="b"/>
            <a:pathLst>
              <a:path w="2706370" h="1510664">
                <a:moveTo>
                  <a:pt x="1979688" y="0"/>
                </a:moveTo>
                <a:lnTo>
                  <a:pt x="0" y="1510463"/>
                </a:lnTo>
                <a:lnTo>
                  <a:pt x="2705879" y="1510463"/>
                </a:lnTo>
                <a:lnTo>
                  <a:pt x="2696602" y="1430119"/>
                </a:lnTo>
                <a:lnTo>
                  <a:pt x="2687712" y="1376042"/>
                </a:lnTo>
                <a:lnTo>
                  <a:pt x="2677871" y="1322446"/>
                </a:lnTo>
                <a:lnTo>
                  <a:pt x="2667090" y="1269346"/>
                </a:lnTo>
                <a:lnTo>
                  <a:pt x="2655383" y="1216759"/>
                </a:lnTo>
                <a:lnTo>
                  <a:pt x="2642761" y="1164702"/>
                </a:lnTo>
                <a:lnTo>
                  <a:pt x="2629236" y="1113189"/>
                </a:lnTo>
                <a:lnTo>
                  <a:pt x="2614822" y="1062239"/>
                </a:lnTo>
                <a:lnTo>
                  <a:pt x="2599530" y="1011867"/>
                </a:lnTo>
                <a:lnTo>
                  <a:pt x="2583373" y="962089"/>
                </a:lnTo>
                <a:lnTo>
                  <a:pt x="2566363" y="912921"/>
                </a:lnTo>
                <a:lnTo>
                  <a:pt x="2548512" y="864381"/>
                </a:lnTo>
                <a:lnTo>
                  <a:pt x="2529833" y="816483"/>
                </a:lnTo>
                <a:lnTo>
                  <a:pt x="2510338" y="769246"/>
                </a:lnTo>
                <a:lnTo>
                  <a:pt x="2490039" y="722683"/>
                </a:lnTo>
                <a:lnTo>
                  <a:pt x="2468949" y="676813"/>
                </a:lnTo>
                <a:lnTo>
                  <a:pt x="2447080" y="631652"/>
                </a:lnTo>
                <a:lnTo>
                  <a:pt x="2424444" y="587215"/>
                </a:lnTo>
                <a:lnTo>
                  <a:pt x="2401054" y="543519"/>
                </a:lnTo>
                <a:lnTo>
                  <a:pt x="2376921" y="500580"/>
                </a:lnTo>
                <a:lnTo>
                  <a:pt x="2352059" y="458414"/>
                </a:lnTo>
                <a:lnTo>
                  <a:pt x="2326480" y="417039"/>
                </a:lnTo>
                <a:lnTo>
                  <a:pt x="2300196" y="376469"/>
                </a:lnTo>
                <a:lnTo>
                  <a:pt x="2273218" y="336722"/>
                </a:lnTo>
                <a:lnTo>
                  <a:pt x="2245561" y="297814"/>
                </a:lnTo>
                <a:lnTo>
                  <a:pt x="2217235" y="259760"/>
                </a:lnTo>
                <a:lnTo>
                  <a:pt x="2188254" y="222578"/>
                </a:lnTo>
                <a:lnTo>
                  <a:pt x="2158629" y="186283"/>
                </a:lnTo>
                <a:lnTo>
                  <a:pt x="2128373" y="150892"/>
                </a:lnTo>
                <a:lnTo>
                  <a:pt x="2097498" y="116422"/>
                </a:lnTo>
                <a:lnTo>
                  <a:pt x="1979688" y="0"/>
                </a:lnTo>
                <a:close/>
              </a:path>
            </a:pathLst>
          </a:custGeom>
          <a:solidFill>
            <a:srgbClr val="FFC000"/>
          </a:solidFill>
        </p:spPr>
        <p:txBody>
          <a:bodyPr wrap="square" lIns="0" tIns="0" rIns="0" bIns="0" rtlCol="0"/>
          <a:lstStyle/>
          <a:p>
            <a:endParaRPr sz="1800"/>
          </a:p>
        </p:txBody>
      </p:sp>
      <p:sp>
        <p:nvSpPr>
          <p:cNvPr id="28" name="bg object 28"/>
          <p:cNvSpPr/>
          <p:nvPr/>
        </p:nvSpPr>
        <p:spPr>
          <a:xfrm>
            <a:off x="233183" y="3637784"/>
            <a:ext cx="2125980" cy="2274570"/>
          </a:xfrm>
          <a:custGeom>
            <a:avLst/>
            <a:gdLst/>
            <a:ahLst/>
            <a:cxnLst/>
            <a:rect l="l" t="t" r="r" b="b"/>
            <a:pathLst>
              <a:path w="1594485" h="2274570">
                <a:moveTo>
                  <a:pt x="0" y="0"/>
                </a:moveTo>
                <a:lnTo>
                  <a:pt x="1594018" y="0"/>
                </a:lnTo>
                <a:lnTo>
                  <a:pt x="1594018" y="2274558"/>
                </a:lnTo>
                <a:lnTo>
                  <a:pt x="0" y="2274558"/>
                </a:lnTo>
                <a:lnTo>
                  <a:pt x="0" y="0"/>
                </a:lnTo>
                <a:close/>
              </a:path>
            </a:pathLst>
          </a:custGeom>
          <a:solidFill>
            <a:srgbClr val="FFC000"/>
          </a:solidFill>
        </p:spPr>
        <p:txBody>
          <a:bodyPr wrap="square" lIns="0" tIns="0" rIns="0" bIns="0" rtlCol="0"/>
          <a:lstStyle/>
          <a:p>
            <a:endParaRPr sz="1800"/>
          </a:p>
        </p:txBody>
      </p:sp>
      <p:sp>
        <p:nvSpPr>
          <p:cNvPr id="29" name="bg object 29"/>
          <p:cNvSpPr/>
          <p:nvPr/>
        </p:nvSpPr>
        <p:spPr>
          <a:xfrm>
            <a:off x="2716244" y="3636800"/>
            <a:ext cx="2071793" cy="2274570"/>
          </a:xfrm>
          <a:custGeom>
            <a:avLst/>
            <a:gdLst/>
            <a:ahLst/>
            <a:cxnLst/>
            <a:rect l="l" t="t" r="r" b="b"/>
            <a:pathLst>
              <a:path w="1553845" h="2274570">
                <a:moveTo>
                  <a:pt x="0" y="0"/>
                </a:moveTo>
                <a:lnTo>
                  <a:pt x="1553776" y="0"/>
                </a:lnTo>
                <a:lnTo>
                  <a:pt x="1553776" y="2274557"/>
                </a:lnTo>
                <a:lnTo>
                  <a:pt x="0" y="2274557"/>
                </a:lnTo>
                <a:lnTo>
                  <a:pt x="0" y="0"/>
                </a:lnTo>
                <a:close/>
              </a:path>
            </a:pathLst>
          </a:custGeom>
          <a:solidFill>
            <a:srgbClr val="00B0F0"/>
          </a:solidFill>
        </p:spPr>
        <p:txBody>
          <a:bodyPr wrap="square" lIns="0" tIns="0" rIns="0" bIns="0" rtlCol="0"/>
          <a:lstStyle/>
          <a:p>
            <a:endParaRPr sz="1800"/>
          </a:p>
        </p:txBody>
      </p:sp>
      <p:sp>
        <p:nvSpPr>
          <p:cNvPr id="30" name="bg object 30"/>
          <p:cNvSpPr/>
          <p:nvPr/>
        </p:nvSpPr>
        <p:spPr>
          <a:xfrm>
            <a:off x="5145649" y="3637786"/>
            <a:ext cx="2071793" cy="2274570"/>
          </a:xfrm>
          <a:custGeom>
            <a:avLst/>
            <a:gdLst/>
            <a:ahLst/>
            <a:cxnLst/>
            <a:rect l="l" t="t" r="r" b="b"/>
            <a:pathLst>
              <a:path w="1553845" h="2274570">
                <a:moveTo>
                  <a:pt x="1553776" y="0"/>
                </a:moveTo>
                <a:lnTo>
                  <a:pt x="0" y="0"/>
                </a:lnTo>
                <a:lnTo>
                  <a:pt x="0" y="2274555"/>
                </a:lnTo>
                <a:lnTo>
                  <a:pt x="1553776" y="2274555"/>
                </a:lnTo>
                <a:lnTo>
                  <a:pt x="1553776" y="0"/>
                </a:lnTo>
                <a:close/>
              </a:path>
            </a:pathLst>
          </a:custGeom>
          <a:solidFill>
            <a:srgbClr val="7030A0"/>
          </a:solidFill>
        </p:spPr>
        <p:txBody>
          <a:bodyPr wrap="square" lIns="0" tIns="0" rIns="0" bIns="0" rtlCol="0"/>
          <a:lstStyle/>
          <a:p>
            <a:endParaRPr sz="1800"/>
          </a:p>
        </p:txBody>
      </p:sp>
      <p:sp>
        <p:nvSpPr>
          <p:cNvPr id="31" name="bg object 31"/>
          <p:cNvSpPr/>
          <p:nvPr/>
        </p:nvSpPr>
        <p:spPr>
          <a:xfrm>
            <a:off x="8133967" y="3637293"/>
            <a:ext cx="3759200" cy="1698625"/>
          </a:xfrm>
          <a:custGeom>
            <a:avLst/>
            <a:gdLst/>
            <a:ahLst/>
            <a:cxnLst/>
            <a:rect l="l" t="t" r="r" b="b"/>
            <a:pathLst>
              <a:path w="2819400" h="1698625">
                <a:moveTo>
                  <a:pt x="2819153" y="0"/>
                </a:moveTo>
                <a:lnTo>
                  <a:pt x="0" y="0"/>
                </a:lnTo>
                <a:lnTo>
                  <a:pt x="2227031" y="1698533"/>
                </a:lnTo>
                <a:lnTo>
                  <a:pt x="2309469" y="1599556"/>
                </a:lnTo>
                <a:lnTo>
                  <a:pt x="2336775" y="1562672"/>
                </a:lnTo>
                <a:lnTo>
                  <a:pt x="2363456" y="1524990"/>
                </a:lnTo>
                <a:lnTo>
                  <a:pt x="2389500" y="1486527"/>
                </a:lnTo>
                <a:lnTo>
                  <a:pt x="2414896" y="1447296"/>
                </a:lnTo>
                <a:lnTo>
                  <a:pt x="2439633" y="1407311"/>
                </a:lnTo>
                <a:lnTo>
                  <a:pt x="2463700" y="1366589"/>
                </a:lnTo>
                <a:lnTo>
                  <a:pt x="2487085" y="1325143"/>
                </a:lnTo>
                <a:lnTo>
                  <a:pt x="2509778" y="1282988"/>
                </a:lnTo>
                <a:lnTo>
                  <a:pt x="2531767" y="1240139"/>
                </a:lnTo>
                <a:lnTo>
                  <a:pt x="2553042" y="1196611"/>
                </a:lnTo>
                <a:lnTo>
                  <a:pt x="2573590" y="1152418"/>
                </a:lnTo>
                <a:lnTo>
                  <a:pt x="2593402" y="1107575"/>
                </a:lnTo>
                <a:lnTo>
                  <a:pt x="2612465" y="1062096"/>
                </a:lnTo>
                <a:lnTo>
                  <a:pt x="2630769" y="1015997"/>
                </a:lnTo>
                <a:lnTo>
                  <a:pt x="2648303" y="969293"/>
                </a:lnTo>
                <a:lnTo>
                  <a:pt x="2665055" y="921997"/>
                </a:lnTo>
                <a:lnTo>
                  <a:pt x="2681014" y="874125"/>
                </a:lnTo>
                <a:lnTo>
                  <a:pt x="2696169" y="825690"/>
                </a:lnTo>
                <a:lnTo>
                  <a:pt x="2710509" y="776709"/>
                </a:lnTo>
                <a:lnTo>
                  <a:pt x="2724024" y="727196"/>
                </a:lnTo>
                <a:lnTo>
                  <a:pt x="2736701" y="677165"/>
                </a:lnTo>
                <a:lnTo>
                  <a:pt x="2748529" y="626631"/>
                </a:lnTo>
                <a:lnTo>
                  <a:pt x="2759498" y="575609"/>
                </a:lnTo>
                <a:lnTo>
                  <a:pt x="2769596" y="524114"/>
                </a:lnTo>
                <a:lnTo>
                  <a:pt x="2778813" y="472160"/>
                </a:lnTo>
                <a:lnTo>
                  <a:pt x="2787136" y="419762"/>
                </a:lnTo>
                <a:lnTo>
                  <a:pt x="2794556" y="366934"/>
                </a:lnTo>
                <a:lnTo>
                  <a:pt x="2801060" y="313692"/>
                </a:lnTo>
                <a:lnTo>
                  <a:pt x="2806638" y="260050"/>
                </a:lnTo>
                <a:lnTo>
                  <a:pt x="2811278" y="206023"/>
                </a:lnTo>
                <a:lnTo>
                  <a:pt x="2819153" y="0"/>
                </a:lnTo>
                <a:close/>
              </a:path>
            </a:pathLst>
          </a:custGeom>
          <a:solidFill>
            <a:srgbClr val="00B050"/>
          </a:solidFill>
        </p:spPr>
        <p:txBody>
          <a:bodyPr wrap="square" lIns="0" tIns="0" rIns="0" bIns="0" rtlCol="0"/>
          <a:lstStyle/>
          <a:p>
            <a:endParaRPr sz="1800"/>
          </a:p>
        </p:txBody>
      </p:sp>
      <p:sp>
        <p:nvSpPr>
          <p:cNvPr id="32" name="bg object 32"/>
          <p:cNvSpPr/>
          <p:nvPr/>
        </p:nvSpPr>
        <p:spPr>
          <a:xfrm>
            <a:off x="7574557" y="3725912"/>
            <a:ext cx="3215640" cy="2186305"/>
          </a:xfrm>
          <a:custGeom>
            <a:avLst/>
            <a:gdLst/>
            <a:ahLst/>
            <a:cxnLst/>
            <a:rect l="l" t="t" r="r" b="b"/>
            <a:pathLst>
              <a:path w="2411729" h="2186304">
                <a:moveTo>
                  <a:pt x="0" y="0"/>
                </a:moveTo>
                <a:lnTo>
                  <a:pt x="0" y="2185938"/>
                </a:lnTo>
                <a:lnTo>
                  <a:pt x="1495958" y="2185938"/>
                </a:lnTo>
                <a:lnTo>
                  <a:pt x="1545948" y="2185009"/>
                </a:lnTo>
                <a:lnTo>
                  <a:pt x="1595589" y="2182239"/>
                </a:lnTo>
                <a:lnTo>
                  <a:pt x="1644863" y="2177653"/>
                </a:lnTo>
                <a:lnTo>
                  <a:pt x="1693751" y="2171276"/>
                </a:lnTo>
                <a:lnTo>
                  <a:pt x="1742234" y="2163131"/>
                </a:lnTo>
                <a:lnTo>
                  <a:pt x="1790294" y="2153246"/>
                </a:lnTo>
                <a:lnTo>
                  <a:pt x="1837911" y="2141643"/>
                </a:lnTo>
                <a:lnTo>
                  <a:pt x="1885066" y="2128348"/>
                </a:lnTo>
                <a:lnTo>
                  <a:pt x="1931742" y="2113386"/>
                </a:lnTo>
                <a:lnTo>
                  <a:pt x="1977919" y="2096782"/>
                </a:lnTo>
                <a:lnTo>
                  <a:pt x="2023578" y="2078560"/>
                </a:lnTo>
                <a:lnTo>
                  <a:pt x="2068701" y="2058745"/>
                </a:lnTo>
                <a:lnTo>
                  <a:pt x="2113268" y="2037362"/>
                </a:lnTo>
                <a:lnTo>
                  <a:pt x="2157262" y="2014436"/>
                </a:lnTo>
                <a:lnTo>
                  <a:pt x="2200663" y="1989992"/>
                </a:lnTo>
                <a:lnTo>
                  <a:pt x="2243452" y="1964055"/>
                </a:lnTo>
                <a:lnTo>
                  <a:pt x="2285611" y="1936648"/>
                </a:lnTo>
                <a:lnTo>
                  <a:pt x="2327121" y="1907798"/>
                </a:lnTo>
                <a:lnTo>
                  <a:pt x="2411520" y="1840036"/>
                </a:lnTo>
                <a:lnTo>
                  <a:pt x="0" y="0"/>
                </a:lnTo>
                <a:close/>
              </a:path>
            </a:pathLst>
          </a:custGeom>
          <a:solidFill>
            <a:srgbClr val="FDA1EE"/>
          </a:solidFill>
        </p:spPr>
        <p:txBody>
          <a:bodyPr wrap="square" lIns="0" tIns="0" rIns="0" bIns="0" rtlCol="0"/>
          <a:lstStyle/>
          <a:p>
            <a:endParaRPr sz="1800"/>
          </a:p>
        </p:txBody>
      </p:sp>
      <p:sp>
        <p:nvSpPr>
          <p:cNvPr id="33" name="bg object 33"/>
          <p:cNvSpPr/>
          <p:nvPr/>
        </p:nvSpPr>
        <p:spPr>
          <a:xfrm>
            <a:off x="233183" y="2418780"/>
            <a:ext cx="10142220" cy="2186305"/>
          </a:xfrm>
          <a:custGeom>
            <a:avLst/>
            <a:gdLst/>
            <a:ahLst/>
            <a:cxnLst/>
            <a:rect l="l" t="t" r="r" b="b"/>
            <a:pathLst>
              <a:path w="7606665" h="2186304">
                <a:moveTo>
                  <a:pt x="6513454" y="0"/>
                </a:moveTo>
                <a:lnTo>
                  <a:pt x="0" y="0"/>
                </a:lnTo>
                <a:lnTo>
                  <a:pt x="0" y="2185937"/>
                </a:lnTo>
                <a:lnTo>
                  <a:pt x="6513454" y="2185937"/>
                </a:lnTo>
                <a:lnTo>
                  <a:pt x="6562139" y="2184873"/>
                </a:lnTo>
                <a:lnTo>
                  <a:pt x="6610279" y="2181707"/>
                </a:lnTo>
                <a:lnTo>
                  <a:pt x="6657829" y="2176486"/>
                </a:lnTo>
                <a:lnTo>
                  <a:pt x="6704745" y="2169254"/>
                </a:lnTo>
                <a:lnTo>
                  <a:pt x="6750982" y="2160055"/>
                </a:lnTo>
                <a:lnTo>
                  <a:pt x="6796496" y="2148933"/>
                </a:lnTo>
                <a:lnTo>
                  <a:pt x="6841243" y="2135933"/>
                </a:lnTo>
                <a:lnTo>
                  <a:pt x="6885177" y="2121099"/>
                </a:lnTo>
                <a:lnTo>
                  <a:pt x="6928256" y="2104476"/>
                </a:lnTo>
                <a:lnTo>
                  <a:pt x="6970434" y="2086109"/>
                </a:lnTo>
                <a:lnTo>
                  <a:pt x="7011666" y="2066041"/>
                </a:lnTo>
                <a:lnTo>
                  <a:pt x="7051909" y="2044317"/>
                </a:lnTo>
                <a:lnTo>
                  <a:pt x="7091118" y="2020981"/>
                </a:lnTo>
                <a:lnTo>
                  <a:pt x="7129249" y="1996078"/>
                </a:lnTo>
                <a:lnTo>
                  <a:pt x="7166257" y="1969653"/>
                </a:lnTo>
                <a:lnTo>
                  <a:pt x="7202097" y="1941749"/>
                </a:lnTo>
                <a:lnTo>
                  <a:pt x="7236726" y="1912411"/>
                </a:lnTo>
                <a:lnTo>
                  <a:pt x="7270098" y="1881684"/>
                </a:lnTo>
                <a:lnTo>
                  <a:pt x="7302170" y="1849612"/>
                </a:lnTo>
                <a:lnTo>
                  <a:pt x="7332897" y="1816240"/>
                </a:lnTo>
                <a:lnTo>
                  <a:pt x="7362235" y="1781611"/>
                </a:lnTo>
                <a:lnTo>
                  <a:pt x="7390139" y="1745771"/>
                </a:lnTo>
                <a:lnTo>
                  <a:pt x="7416564" y="1708763"/>
                </a:lnTo>
                <a:lnTo>
                  <a:pt x="7441467" y="1670632"/>
                </a:lnTo>
                <a:lnTo>
                  <a:pt x="7464803" y="1631423"/>
                </a:lnTo>
                <a:lnTo>
                  <a:pt x="7486527" y="1591180"/>
                </a:lnTo>
                <a:lnTo>
                  <a:pt x="7506595" y="1549948"/>
                </a:lnTo>
                <a:lnTo>
                  <a:pt x="7524962" y="1507770"/>
                </a:lnTo>
                <a:lnTo>
                  <a:pt x="7541585" y="1464691"/>
                </a:lnTo>
                <a:lnTo>
                  <a:pt x="7556419" y="1420757"/>
                </a:lnTo>
                <a:lnTo>
                  <a:pt x="7569419" y="1376010"/>
                </a:lnTo>
                <a:lnTo>
                  <a:pt x="7580541" y="1330496"/>
                </a:lnTo>
                <a:lnTo>
                  <a:pt x="7589740" y="1284259"/>
                </a:lnTo>
                <a:lnTo>
                  <a:pt x="7596972" y="1237343"/>
                </a:lnTo>
                <a:lnTo>
                  <a:pt x="7602193" y="1189793"/>
                </a:lnTo>
                <a:lnTo>
                  <a:pt x="7605359" y="1141653"/>
                </a:lnTo>
                <a:lnTo>
                  <a:pt x="7606423" y="1092968"/>
                </a:lnTo>
                <a:lnTo>
                  <a:pt x="7605359" y="1044283"/>
                </a:lnTo>
                <a:lnTo>
                  <a:pt x="7602193" y="996143"/>
                </a:lnTo>
                <a:lnTo>
                  <a:pt x="7596972" y="948593"/>
                </a:lnTo>
                <a:lnTo>
                  <a:pt x="7589740" y="901677"/>
                </a:lnTo>
                <a:lnTo>
                  <a:pt x="7580541" y="855440"/>
                </a:lnTo>
                <a:lnTo>
                  <a:pt x="7569419" y="809926"/>
                </a:lnTo>
                <a:lnTo>
                  <a:pt x="7556419" y="765179"/>
                </a:lnTo>
                <a:lnTo>
                  <a:pt x="7541585" y="721244"/>
                </a:lnTo>
                <a:lnTo>
                  <a:pt x="7524962" y="678166"/>
                </a:lnTo>
                <a:lnTo>
                  <a:pt x="7506595" y="635988"/>
                </a:lnTo>
                <a:lnTo>
                  <a:pt x="7486527" y="594756"/>
                </a:lnTo>
                <a:lnTo>
                  <a:pt x="7464803" y="554513"/>
                </a:lnTo>
                <a:lnTo>
                  <a:pt x="7441467" y="515304"/>
                </a:lnTo>
                <a:lnTo>
                  <a:pt x="7416564" y="477173"/>
                </a:lnTo>
                <a:lnTo>
                  <a:pt x="7390139" y="440165"/>
                </a:lnTo>
                <a:lnTo>
                  <a:pt x="7362235" y="404325"/>
                </a:lnTo>
                <a:lnTo>
                  <a:pt x="7332897" y="369696"/>
                </a:lnTo>
                <a:lnTo>
                  <a:pt x="7302170" y="336324"/>
                </a:lnTo>
                <a:lnTo>
                  <a:pt x="7270098" y="304252"/>
                </a:lnTo>
                <a:lnTo>
                  <a:pt x="7236726" y="273525"/>
                </a:lnTo>
                <a:lnTo>
                  <a:pt x="7202097" y="244187"/>
                </a:lnTo>
                <a:lnTo>
                  <a:pt x="7166257" y="216284"/>
                </a:lnTo>
                <a:lnTo>
                  <a:pt x="7129249" y="189858"/>
                </a:lnTo>
                <a:lnTo>
                  <a:pt x="7091118" y="164956"/>
                </a:lnTo>
                <a:lnTo>
                  <a:pt x="7051909" y="141620"/>
                </a:lnTo>
                <a:lnTo>
                  <a:pt x="7011666" y="119896"/>
                </a:lnTo>
                <a:lnTo>
                  <a:pt x="6970434" y="99828"/>
                </a:lnTo>
                <a:lnTo>
                  <a:pt x="6928256" y="81460"/>
                </a:lnTo>
                <a:lnTo>
                  <a:pt x="6885177" y="64837"/>
                </a:lnTo>
                <a:lnTo>
                  <a:pt x="6841243" y="50004"/>
                </a:lnTo>
                <a:lnTo>
                  <a:pt x="6796496" y="37004"/>
                </a:lnTo>
                <a:lnTo>
                  <a:pt x="6750982" y="25882"/>
                </a:lnTo>
                <a:lnTo>
                  <a:pt x="6704745" y="16683"/>
                </a:lnTo>
                <a:lnTo>
                  <a:pt x="6657829" y="9451"/>
                </a:lnTo>
                <a:lnTo>
                  <a:pt x="6610279" y="4230"/>
                </a:lnTo>
                <a:lnTo>
                  <a:pt x="6562139" y="1064"/>
                </a:lnTo>
                <a:lnTo>
                  <a:pt x="6513454" y="0"/>
                </a:lnTo>
                <a:close/>
              </a:path>
            </a:pathLst>
          </a:custGeom>
          <a:solidFill>
            <a:srgbClr val="FFFFFF"/>
          </a:solidFill>
        </p:spPr>
        <p:txBody>
          <a:bodyPr wrap="square" lIns="0" tIns="0" rIns="0" bIns="0" rtlCol="0"/>
          <a:lstStyle/>
          <a:p>
            <a:endParaRPr sz="1800"/>
          </a:p>
        </p:txBody>
      </p:sp>
      <p:sp>
        <p:nvSpPr>
          <p:cNvPr id="34" name="bg object 34"/>
          <p:cNvSpPr/>
          <p:nvPr/>
        </p:nvSpPr>
        <p:spPr>
          <a:xfrm>
            <a:off x="233183" y="2418780"/>
            <a:ext cx="10142220" cy="2186305"/>
          </a:xfrm>
          <a:custGeom>
            <a:avLst/>
            <a:gdLst/>
            <a:ahLst/>
            <a:cxnLst/>
            <a:rect l="l" t="t" r="r" b="b"/>
            <a:pathLst>
              <a:path w="7606665" h="2186304">
                <a:moveTo>
                  <a:pt x="7606423" y="1092968"/>
                </a:moveTo>
                <a:lnTo>
                  <a:pt x="7605358" y="1141654"/>
                </a:lnTo>
                <a:lnTo>
                  <a:pt x="7602193" y="1189793"/>
                </a:lnTo>
                <a:lnTo>
                  <a:pt x="7596972" y="1237343"/>
                </a:lnTo>
                <a:lnTo>
                  <a:pt x="7589740" y="1284259"/>
                </a:lnTo>
                <a:lnTo>
                  <a:pt x="7580541" y="1330497"/>
                </a:lnTo>
                <a:lnTo>
                  <a:pt x="7569419" y="1376011"/>
                </a:lnTo>
                <a:lnTo>
                  <a:pt x="7556419" y="1420757"/>
                </a:lnTo>
                <a:lnTo>
                  <a:pt x="7541585" y="1464692"/>
                </a:lnTo>
                <a:lnTo>
                  <a:pt x="7524962" y="1507771"/>
                </a:lnTo>
                <a:lnTo>
                  <a:pt x="7506595" y="1549949"/>
                </a:lnTo>
                <a:lnTo>
                  <a:pt x="7486527" y="1591181"/>
                </a:lnTo>
                <a:lnTo>
                  <a:pt x="7464803" y="1631424"/>
                </a:lnTo>
                <a:lnTo>
                  <a:pt x="7441467" y="1670633"/>
                </a:lnTo>
                <a:lnTo>
                  <a:pt x="7416564" y="1708764"/>
                </a:lnTo>
                <a:lnTo>
                  <a:pt x="7390139" y="1745771"/>
                </a:lnTo>
                <a:lnTo>
                  <a:pt x="7362235" y="1781612"/>
                </a:lnTo>
                <a:lnTo>
                  <a:pt x="7332898" y="1816241"/>
                </a:lnTo>
                <a:lnTo>
                  <a:pt x="7302171" y="1849613"/>
                </a:lnTo>
                <a:lnTo>
                  <a:pt x="7270099" y="1881685"/>
                </a:lnTo>
                <a:lnTo>
                  <a:pt x="7236726" y="1912412"/>
                </a:lnTo>
                <a:lnTo>
                  <a:pt x="7202097" y="1941749"/>
                </a:lnTo>
                <a:lnTo>
                  <a:pt x="7166257" y="1969653"/>
                </a:lnTo>
                <a:lnTo>
                  <a:pt x="7129249" y="1996079"/>
                </a:lnTo>
                <a:lnTo>
                  <a:pt x="7091119" y="2020981"/>
                </a:lnTo>
                <a:lnTo>
                  <a:pt x="7051910" y="2044317"/>
                </a:lnTo>
                <a:lnTo>
                  <a:pt x="7011667" y="2066041"/>
                </a:lnTo>
                <a:lnTo>
                  <a:pt x="6970434" y="2086109"/>
                </a:lnTo>
                <a:lnTo>
                  <a:pt x="6928256" y="2104477"/>
                </a:lnTo>
                <a:lnTo>
                  <a:pt x="6885178" y="2121100"/>
                </a:lnTo>
                <a:lnTo>
                  <a:pt x="6841243" y="2135933"/>
                </a:lnTo>
                <a:lnTo>
                  <a:pt x="6796496" y="2148933"/>
                </a:lnTo>
                <a:lnTo>
                  <a:pt x="6750982" y="2160055"/>
                </a:lnTo>
                <a:lnTo>
                  <a:pt x="6704745" y="2169254"/>
                </a:lnTo>
                <a:lnTo>
                  <a:pt x="6657829" y="2176486"/>
                </a:lnTo>
                <a:lnTo>
                  <a:pt x="6610279" y="2181707"/>
                </a:lnTo>
                <a:lnTo>
                  <a:pt x="6562139" y="2184873"/>
                </a:lnTo>
                <a:lnTo>
                  <a:pt x="6513454" y="2185937"/>
                </a:lnTo>
                <a:lnTo>
                  <a:pt x="0" y="2185937"/>
                </a:lnTo>
                <a:lnTo>
                  <a:pt x="0" y="0"/>
                </a:lnTo>
                <a:lnTo>
                  <a:pt x="6513454" y="0"/>
                </a:lnTo>
                <a:lnTo>
                  <a:pt x="6562139" y="1064"/>
                </a:lnTo>
                <a:lnTo>
                  <a:pt x="6610279" y="4230"/>
                </a:lnTo>
                <a:lnTo>
                  <a:pt x="6657829" y="9451"/>
                </a:lnTo>
                <a:lnTo>
                  <a:pt x="6704745" y="16683"/>
                </a:lnTo>
                <a:lnTo>
                  <a:pt x="6750982" y="25882"/>
                </a:lnTo>
                <a:lnTo>
                  <a:pt x="6796496" y="37004"/>
                </a:lnTo>
                <a:lnTo>
                  <a:pt x="6841243" y="50004"/>
                </a:lnTo>
                <a:lnTo>
                  <a:pt x="6885178" y="64837"/>
                </a:lnTo>
                <a:lnTo>
                  <a:pt x="6928256" y="81460"/>
                </a:lnTo>
                <a:lnTo>
                  <a:pt x="6970434" y="99828"/>
                </a:lnTo>
                <a:lnTo>
                  <a:pt x="7011667" y="119896"/>
                </a:lnTo>
                <a:lnTo>
                  <a:pt x="7051910" y="141620"/>
                </a:lnTo>
                <a:lnTo>
                  <a:pt x="7091119" y="164956"/>
                </a:lnTo>
                <a:lnTo>
                  <a:pt x="7129249" y="189858"/>
                </a:lnTo>
                <a:lnTo>
                  <a:pt x="7166257" y="216284"/>
                </a:lnTo>
                <a:lnTo>
                  <a:pt x="7202097" y="244188"/>
                </a:lnTo>
                <a:lnTo>
                  <a:pt x="7236726" y="273525"/>
                </a:lnTo>
                <a:lnTo>
                  <a:pt x="7270099" y="304252"/>
                </a:lnTo>
                <a:lnTo>
                  <a:pt x="7302171" y="336324"/>
                </a:lnTo>
                <a:lnTo>
                  <a:pt x="7332898" y="369697"/>
                </a:lnTo>
                <a:lnTo>
                  <a:pt x="7362235" y="404325"/>
                </a:lnTo>
                <a:lnTo>
                  <a:pt x="7390139" y="440166"/>
                </a:lnTo>
                <a:lnTo>
                  <a:pt x="7416564" y="477173"/>
                </a:lnTo>
                <a:lnTo>
                  <a:pt x="7441467" y="515304"/>
                </a:lnTo>
                <a:lnTo>
                  <a:pt x="7464803" y="554513"/>
                </a:lnTo>
                <a:lnTo>
                  <a:pt x="7486527" y="594756"/>
                </a:lnTo>
                <a:lnTo>
                  <a:pt x="7506595" y="635988"/>
                </a:lnTo>
                <a:lnTo>
                  <a:pt x="7524962" y="678166"/>
                </a:lnTo>
                <a:lnTo>
                  <a:pt x="7541585" y="721245"/>
                </a:lnTo>
                <a:lnTo>
                  <a:pt x="7556419" y="765180"/>
                </a:lnTo>
                <a:lnTo>
                  <a:pt x="7569419" y="809926"/>
                </a:lnTo>
                <a:lnTo>
                  <a:pt x="7580541" y="855440"/>
                </a:lnTo>
                <a:lnTo>
                  <a:pt x="7589740" y="901678"/>
                </a:lnTo>
                <a:lnTo>
                  <a:pt x="7596972" y="948594"/>
                </a:lnTo>
                <a:lnTo>
                  <a:pt x="7602193" y="996144"/>
                </a:lnTo>
                <a:lnTo>
                  <a:pt x="7605358" y="1044283"/>
                </a:lnTo>
                <a:lnTo>
                  <a:pt x="7606423" y="1092968"/>
                </a:lnTo>
                <a:close/>
              </a:path>
            </a:pathLst>
          </a:custGeom>
          <a:ln w="9525">
            <a:solidFill>
              <a:srgbClr val="D1D1F0"/>
            </a:solidFill>
          </a:ln>
        </p:spPr>
        <p:txBody>
          <a:bodyPr wrap="square" lIns="0" tIns="0" rIns="0" bIns="0" rtlCol="0"/>
          <a:lstStyle/>
          <a:p>
            <a:endParaRPr sz="1800"/>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lang="en-IN"/>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63208E8-5DF1-4BC2-905D-BC652DCE4432}" type="datetimeFigureOut">
              <a:rPr lang="en-IN" smtClean="0"/>
            </a:fld>
            <a:endParaRPr lang="en-IN"/>
          </a:p>
        </p:txBody>
      </p:sp>
      <p:sp>
        <p:nvSpPr>
          <p:cNvPr id="4" name="Holder 4"/>
          <p:cNvSpPr>
            <a:spLocks noGrp="1"/>
          </p:cNvSpPr>
          <p:nvPr>
            <p:ph type="sldNum" sz="quarter" idx="7"/>
          </p:nvPr>
        </p:nvSpPr>
        <p:spPr/>
        <p:txBody>
          <a:bodyPr lIns="0" tIns="0" rIns="0" bIns="0"/>
          <a:lstStyle>
            <a:lvl1pPr>
              <a:defRPr sz="1400" b="0" i="0">
                <a:solidFill>
                  <a:schemeClr val="bg1"/>
                </a:solidFill>
                <a:latin typeface="Arial MT"/>
                <a:cs typeface="Arial MT"/>
              </a:defRPr>
            </a:lvl1pPr>
          </a:lstStyle>
          <a:p>
            <a:fld id="{54B2A48A-CEB6-447B-8DFF-0C79424D2243}" type="slidenum">
              <a:rPr lang="en-IN" smtClean="0"/>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163208E8-5DF1-4BC2-905D-BC652DCE4432}"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4B2A48A-CEB6-447B-8DFF-0C79424D2243}" type="slidenum">
              <a:rPr lang="en-IN" smtClean="0"/>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image" Target="../media/image2.jpeg"/><Relationship Id="rId7" Type="http://schemas.openxmlformats.org/officeDocument/2006/relationships/image" Target="../media/image1.jpeg"/><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2115" y="-1587"/>
            <a:ext cx="12196233" cy="6861175"/>
          </a:xfrm>
          <a:custGeom>
            <a:avLst/>
            <a:gdLst/>
            <a:ahLst/>
            <a:cxnLst/>
            <a:rect l="l" t="t" r="r" b="b"/>
            <a:pathLst>
              <a:path w="9147175" h="6861175">
                <a:moveTo>
                  <a:pt x="0" y="6861175"/>
                </a:moveTo>
                <a:lnTo>
                  <a:pt x="9147175" y="6861175"/>
                </a:lnTo>
                <a:lnTo>
                  <a:pt x="9147175" y="0"/>
                </a:lnTo>
                <a:lnTo>
                  <a:pt x="0" y="0"/>
                </a:lnTo>
                <a:lnTo>
                  <a:pt x="0" y="6861175"/>
                </a:lnTo>
                <a:close/>
              </a:path>
            </a:pathLst>
          </a:custGeom>
          <a:ln w="3175">
            <a:solidFill>
              <a:srgbClr val="000000"/>
            </a:solidFill>
          </a:ln>
        </p:spPr>
        <p:txBody>
          <a:bodyPr wrap="square" lIns="0" tIns="0" rIns="0" bIns="0" rtlCol="0"/>
          <a:lstStyle/>
          <a:p>
            <a:endParaRPr sz="1800"/>
          </a:p>
        </p:txBody>
      </p:sp>
      <p:sp>
        <p:nvSpPr>
          <p:cNvPr id="17" name="bg object 17"/>
          <p:cNvSpPr/>
          <p:nvPr/>
        </p:nvSpPr>
        <p:spPr>
          <a:xfrm>
            <a:off x="0" y="6286500"/>
            <a:ext cx="12192000" cy="571500"/>
          </a:xfrm>
          <a:custGeom>
            <a:avLst/>
            <a:gdLst/>
            <a:ahLst/>
            <a:cxnLst/>
            <a:rect l="l" t="t" r="r" b="b"/>
            <a:pathLst>
              <a:path w="9144000" h="571500">
                <a:moveTo>
                  <a:pt x="9144000" y="0"/>
                </a:moveTo>
                <a:lnTo>
                  <a:pt x="0" y="0"/>
                </a:lnTo>
                <a:lnTo>
                  <a:pt x="0" y="571500"/>
                </a:lnTo>
                <a:lnTo>
                  <a:pt x="9144000" y="571500"/>
                </a:lnTo>
                <a:lnTo>
                  <a:pt x="9144000" y="0"/>
                </a:lnTo>
                <a:close/>
              </a:path>
            </a:pathLst>
          </a:custGeom>
          <a:solidFill>
            <a:srgbClr val="262673"/>
          </a:solidFill>
        </p:spPr>
        <p:txBody>
          <a:bodyPr wrap="square" lIns="0" tIns="0" rIns="0" bIns="0" rtlCol="0"/>
          <a:lstStyle/>
          <a:p>
            <a:endParaRPr sz="1800"/>
          </a:p>
        </p:txBody>
      </p:sp>
      <p:sp>
        <p:nvSpPr>
          <p:cNvPr id="18" name="bg object 18"/>
          <p:cNvSpPr/>
          <p:nvPr/>
        </p:nvSpPr>
        <p:spPr>
          <a:xfrm>
            <a:off x="0" y="6286500"/>
            <a:ext cx="12192000" cy="571500"/>
          </a:xfrm>
          <a:custGeom>
            <a:avLst/>
            <a:gdLst/>
            <a:ahLst/>
            <a:cxnLst/>
            <a:rect l="l" t="t" r="r" b="b"/>
            <a:pathLst>
              <a:path w="9144000" h="571500">
                <a:moveTo>
                  <a:pt x="0" y="571500"/>
                </a:moveTo>
                <a:lnTo>
                  <a:pt x="0" y="0"/>
                </a:lnTo>
                <a:lnTo>
                  <a:pt x="9144000" y="0"/>
                </a:lnTo>
                <a:lnTo>
                  <a:pt x="9144000" y="571500"/>
                </a:lnTo>
              </a:path>
            </a:pathLst>
          </a:custGeom>
          <a:ln w="9525">
            <a:solidFill>
              <a:srgbClr val="000000"/>
            </a:solidFill>
          </a:ln>
        </p:spPr>
        <p:txBody>
          <a:bodyPr wrap="square" lIns="0" tIns="0" rIns="0" bIns="0" rtlCol="0"/>
          <a:lstStyle/>
          <a:p>
            <a:endParaRPr sz="1800"/>
          </a:p>
        </p:txBody>
      </p:sp>
      <p:pic>
        <p:nvPicPr>
          <p:cNvPr id="19" name="bg object 19"/>
          <p:cNvPicPr/>
          <p:nvPr/>
        </p:nvPicPr>
        <p:blipFill>
          <a:blip r:embed="rId7" cstate="print"/>
          <a:stretch>
            <a:fillRect/>
          </a:stretch>
        </p:blipFill>
        <p:spPr>
          <a:xfrm>
            <a:off x="47366" y="40317"/>
            <a:ext cx="1247293" cy="689428"/>
          </a:xfrm>
          <a:prstGeom prst="rect">
            <a:avLst/>
          </a:prstGeom>
        </p:spPr>
      </p:pic>
      <p:sp>
        <p:nvSpPr>
          <p:cNvPr id="20" name="bg object 20"/>
          <p:cNvSpPr/>
          <p:nvPr/>
        </p:nvSpPr>
        <p:spPr>
          <a:xfrm>
            <a:off x="0" y="827087"/>
            <a:ext cx="12192000" cy="119380"/>
          </a:xfrm>
          <a:custGeom>
            <a:avLst/>
            <a:gdLst/>
            <a:ahLst/>
            <a:cxnLst/>
            <a:rect l="l" t="t" r="r" b="b"/>
            <a:pathLst>
              <a:path w="9144000" h="119380">
                <a:moveTo>
                  <a:pt x="9144000" y="0"/>
                </a:moveTo>
                <a:lnTo>
                  <a:pt x="0" y="0"/>
                </a:lnTo>
                <a:lnTo>
                  <a:pt x="0" y="119062"/>
                </a:lnTo>
                <a:lnTo>
                  <a:pt x="9144000" y="119062"/>
                </a:lnTo>
                <a:lnTo>
                  <a:pt x="9144000" y="0"/>
                </a:lnTo>
                <a:close/>
              </a:path>
            </a:pathLst>
          </a:custGeom>
          <a:solidFill>
            <a:srgbClr val="262673"/>
          </a:solidFill>
        </p:spPr>
        <p:txBody>
          <a:bodyPr wrap="square" lIns="0" tIns="0" rIns="0" bIns="0" rtlCol="0"/>
          <a:lstStyle/>
          <a:p>
            <a:endParaRPr sz="1800"/>
          </a:p>
        </p:txBody>
      </p:sp>
      <p:sp>
        <p:nvSpPr>
          <p:cNvPr id="21" name="bg object 21"/>
          <p:cNvSpPr/>
          <p:nvPr/>
        </p:nvSpPr>
        <p:spPr>
          <a:xfrm>
            <a:off x="0" y="827087"/>
            <a:ext cx="12192000" cy="119380"/>
          </a:xfrm>
          <a:custGeom>
            <a:avLst/>
            <a:gdLst/>
            <a:ahLst/>
            <a:cxnLst/>
            <a:rect l="l" t="t" r="r" b="b"/>
            <a:pathLst>
              <a:path w="9144000" h="119380">
                <a:moveTo>
                  <a:pt x="0" y="0"/>
                </a:moveTo>
                <a:lnTo>
                  <a:pt x="9144000" y="0"/>
                </a:lnTo>
                <a:lnTo>
                  <a:pt x="9144000" y="119062"/>
                </a:lnTo>
                <a:lnTo>
                  <a:pt x="0" y="119062"/>
                </a:lnTo>
                <a:lnTo>
                  <a:pt x="0" y="0"/>
                </a:lnTo>
                <a:close/>
              </a:path>
            </a:pathLst>
          </a:custGeom>
          <a:ln w="9525">
            <a:solidFill>
              <a:srgbClr val="000000"/>
            </a:solidFill>
          </a:ln>
        </p:spPr>
        <p:txBody>
          <a:bodyPr wrap="square" lIns="0" tIns="0" rIns="0" bIns="0" rtlCol="0"/>
          <a:lstStyle/>
          <a:p>
            <a:endParaRPr sz="1800"/>
          </a:p>
        </p:txBody>
      </p:sp>
      <p:pic>
        <p:nvPicPr>
          <p:cNvPr id="22" name="bg object 22"/>
          <p:cNvPicPr/>
          <p:nvPr/>
        </p:nvPicPr>
        <p:blipFill>
          <a:blip r:embed="rId8" cstate="print"/>
          <a:stretch>
            <a:fillRect/>
          </a:stretch>
        </p:blipFill>
        <p:spPr>
          <a:xfrm>
            <a:off x="9935634" y="20637"/>
            <a:ext cx="2256367" cy="793750"/>
          </a:xfrm>
          <a:prstGeom prst="rect">
            <a:avLst/>
          </a:prstGeom>
        </p:spPr>
      </p:pic>
      <p:sp>
        <p:nvSpPr>
          <p:cNvPr id="2" name="Holder 2"/>
          <p:cNvSpPr>
            <a:spLocks noGrp="1"/>
          </p:cNvSpPr>
          <p:nvPr>
            <p:ph type="title"/>
          </p:nvPr>
        </p:nvSpPr>
        <p:spPr>
          <a:xfrm>
            <a:off x="2140396" y="54402"/>
            <a:ext cx="7216987" cy="430887"/>
          </a:xfrm>
          <a:prstGeom prst="rect">
            <a:avLst/>
          </a:prstGeom>
        </p:spPr>
        <p:txBody>
          <a:bodyPr wrap="square" lIns="0" tIns="0" rIns="0" bIns="0">
            <a:spAutoFit/>
          </a:bodyPr>
          <a:lstStyle>
            <a:lvl1pPr>
              <a:defRPr sz="2800" b="1" i="0">
                <a:solidFill>
                  <a:schemeClr val="tx1"/>
                </a:solidFill>
                <a:latin typeface="Arial" panose="020B0604020202020204"/>
                <a:cs typeface="Arial" panose="020B0604020202020204"/>
              </a:defRPr>
            </a:lvl1pPr>
          </a:lstStyle>
          <a:p/>
        </p:txBody>
      </p:sp>
      <p:sp>
        <p:nvSpPr>
          <p:cNvPr id="3" name="Holder 3"/>
          <p:cNvSpPr>
            <a:spLocks noGrp="1"/>
          </p:cNvSpPr>
          <p:nvPr>
            <p:ph type="body" idx="1"/>
          </p:nvPr>
        </p:nvSpPr>
        <p:spPr>
          <a:xfrm>
            <a:off x="450426" y="1425247"/>
            <a:ext cx="11259820" cy="307777"/>
          </a:xfrm>
          <a:prstGeom prst="rect">
            <a:avLst/>
          </a:prstGeom>
        </p:spPr>
        <p:txBody>
          <a:bodyPr wrap="square" lIns="0" tIns="0" rIns="0" bIns="0">
            <a:spAutoFit/>
          </a:bodyPr>
          <a:lstStyle>
            <a:lvl1pPr>
              <a:defRPr sz="2000" b="0" i="0">
                <a:solidFill>
                  <a:schemeClr val="tx1"/>
                </a:solidFill>
                <a:latin typeface="Times New Roman" panose="02020603050405020304"/>
                <a:cs typeface="Times New Roman" panose="02020603050405020304"/>
              </a:defRPr>
            </a:lvl1pPr>
          </a:lstStyle>
          <a:p/>
        </p:txBody>
      </p:sp>
      <p:sp>
        <p:nvSpPr>
          <p:cNvPr id="4" name="Holder 4"/>
          <p:cNvSpPr>
            <a:spLocks noGrp="1"/>
          </p:cNvSpPr>
          <p:nvPr>
            <p:ph type="ftr" sz="quarter" idx="5"/>
          </p:nvPr>
        </p:nvSpPr>
        <p:spPr>
          <a:xfrm>
            <a:off x="4145280" y="6377940"/>
            <a:ext cx="3901440" cy="276999"/>
          </a:xfrm>
          <a:prstGeom prst="rect">
            <a:avLst/>
          </a:prstGeom>
        </p:spPr>
        <p:txBody>
          <a:bodyPr wrap="square" lIns="0" tIns="0" rIns="0" bIns="0">
            <a:spAutoFit/>
          </a:bodyPr>
          <a:lstStyle>
            <a:lvl1pPr algn="ctr">
              <a:defRPr>
                <a:solidFill>
                  <a:schemeClr val="tx1">
                    <a:tint val="75000"/>
                  </a:schemeClr>
                </a:solidFill>
              </a:defRPr>
            </a:lvl1pPr>
          </a:lstStyle>
          <a:p>
            <a:endParaRPr lang="en-IN"/>
          </a:p>
        </p:txBody>
      </p:sp>
      <p:sp>
        <p:nvSpPr>
          <p:cNvPr id="5" name="Holder 5"/>
          <p:cNvSpPr>
            <a:spLocks noGrp="1"/>
          </p:cNvSpPr>
          <p:nvPr>
            <p:ph type="dt" sz="half" idx="6"/>
          </p:nvPr>
        </p:nvSpPr>
        <p:spPr>
          <a:xfrm>
            <a:off x="609600" y="6377940"/>
            <a:ext cx="2804160" cy="276999"/>
          </a:xfrm>
          <a:prstGeom prst="rect">
            <a:avLst/>
          </a:prstGeom>
        </p:spPr>
        <p:txBody>
          <a:bodyPr wrap="square" lIns="0" tIns="0" rIns="0" bIns="0">
            <a:spAutoFit/>
          </a:bodyPr>
          <a:lstStyle>
            <a:lvl1pPr algn="l">
              <a:defRPr>
                <a:solidFill>
                  <a:schemeClr val="tx1">
                    <a:tint val="75000"/>
                  </a:schemeClr>
                </a:solidFill>
              </a:defRPr>
            </a:lvl1pPr>
          </a:lstStyle>
          <a:p>
            <a:fld id="{163208E8-5DF1-4BC2-905D-BC652DCE4432}" type="datetimeFigureOut">
              <a:rPr lang="en-IN" smtClean="0"/>
            </a:fld>
            <a:endParaRPr lang="en-IN"/>
          </a:p>
        </p:txBody>
      </p:sp>
      <p:sp>
        <p:nvSpPr>
          <p:cNvPr id="6" name="Holder 6"/>
          <p:cNvSpPr>
            <a:spLocks noGrp="1"/>
          </p:cNvSpPr>
          <p:nvPr>
            <p:ph type="sldNum" sz="quarter" idx="7"/>
          </p:nvPr>
        </p:nvSpPr>
        <p:spPr>
          <a:xfrm>
            <a:off x="11562548" y="6391292"/>
            <a:ext cx="382693" cy="215444"/>
          </a:xfrm>
          <a:prstGeom prst="rect">
            <a:avLst/>
          </a:prstGeom>
        </p:spPr>
        <p:txBody>
          <a:bodyPr wrap="square" lIns="0" tIns="0" rIns="0" bIns="0">
            <a:spAutoFit/>
          </a:bodyPr>
          <a:lstStyle>
            <a:lvl1pPr>
              <a:defRPr sz="1400" b="0" i="0">
                <a:solidFill>
                  <a:schemeClr val="bg1"/>
                </a:solidFill>
                <a:latin typeface="Arial MT"/>
                <a:cs typeface="Arial MT"/>
              </a:defRPr>
            </a:lvl1pPr>
          </a:lstStyle>
          <a:p>
            <a:fld id="{54B2A48A-CEB6-447B-8DFF-0C79424D2243}"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eaLnBrk="1" hangingPunct="1">
        <a:defRPr>
          <a:latin typeface="+mj-lt"/>
          <a:ea typeface="+mj-ea"/>
          <a:cs typeface="+mj-cs"/>
        </a:defRPr>
      </a:lvl1pPr>
    </p:titleStyle>
    <p:bodyStyle>
      <a:lvl1pPr marL="0" eaLnBrk="1" hangingPunct="1">
        <a:defRPr>
          <a:latin typeface="+mn-lt"/>
          <a:ea typeface="+mn-ea"/>
          <a:cs typeface="+mn-cs"/>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p:bodyStyle>
    <p:otherStyle>
      <a:lvl1pPr marL="0" eaLnBrk="1" hangingPunct="1">
        <a:defRPr>
          <a:latin typeface="+mn-lt"/>
          <a:ea typeface="+mn-ea"/>
          <a:cs typeface="+mn-cs"/>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jpeg"/><Relationship Id="rId1" Type="http://schemas.openxmlformats.org/officeDocument/2006/relationships/hyperlink" Target="https://grabcad.com/library/audi-double-wishbone-suspension-system-1" TargetMode="Externa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jpeg"/><Relationship Id="rId1" Type="http://schemas.openxmlformats.org/officeDocument/2006/relationships/image" Target="../media/image5.jpe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jpeg"/><Relationship Id="rId1" Type="http://schemas.openxmlformats.org/officeDocument/2006/relationships/image" Target="../media/image7.jpe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jpeg"/><Relationship Id="rId1" Type="http://schemas.openxmlformats.org/officeDocument/2006/relationships/image" Target="../media/image9.jpeg"/></Relationships>
</file>

<file path=ppt/slides/_rels/slide10.xml.rels><?xml version="1.0" encoding="UTF-8" standalone="yes"?>
<Relationships xmlns="http://schemas.openxmlformats.org/package/2006/relationships"><Relationship Id="rId9" Type="http://schemas.openxmlformats.org/officeDocument/2006/relationships/image" Target="../media/image19.jpeg"/><Relationship Id="rId8" Type="http://schemas.openxmlformats.org/officeDocument/2006/relationships/image" Target="../media/image18.jpeg"/><Relationship Id="rId7" Type="http://schemas.openxmlformats.org/officeDocument/2006/relationships/image" Target="../media/image17.jpeg"/><Relationship Id="rId6" Type="http://schemas.openxmlformats.org/officeDocument/2006/relationships/image" Target="../media/image16.jpeg"/><Relationship Id="rId5" Type="http://schemas.openxmlformats.org/officeDocument/2006/relationships/image" Target="../media/image15.jpeg"/><Relationship Id="rId4" Type="http://schemas.openxmlformats.org/officeDocument/2006/relationships/image" Target="../media/image14.jpeg"/><Relationship Id="rId3" Type="http://schemas.openxmlformats.org/officeDocument/2006/relationships/image" Target="../media/image13.jpeg"/><Relationship Id="rId2" Type="http://schemas.openxmlformats.org/officeDocument/2006/relationships/image" Target="../media/image12.jpeg"/><Relationship Id="rId11" Type="http://schemas.openxmlformats.org/officeDocument/2006/relationships/slideLayout" Target="../slideLayouts/slideLayout2.xml"/><Relationship Id="rId10" Type="http://schemas.openxmlformats.org/officeDocument/2006/relationships/image" Target="../media/image20.jpeg"/><Relationship Id="rId1" Type="http://schemas.openxmlformats.org/officeDocument/2006/relationships/image" Target="../media/image11.jpeg"/></Relationships>
</file>

<file path=ppt/slides/_rels/slide11.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28.jpeg"/><Relationship Id="rId7" Type="http://schemas.openxmlformats.org/officeDocument/2006/relationships/image" Target="../media/image27.jpeg"/><Relationship Id="rId6" Type="http://schemas.openxmlformats.org/officeDocument/2006/relationships/image" Target="../media/image26.jpeg"/><Relationship Id="rId5" Type="http://schemas.openxmlformats.org/officeDocument/2006/relationships/image" Target="../media/image25.jpeg"/><Relationship Id="rId4" Type="http://schemas.openxmlformats.org/officeDocument/2006/relationships/image" Target="../media/image24.jpeg"/><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image" Target="../media/image21.jpe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jpeg"/><Relationship Id="rId1" Type="http://schemas.openxmlformats.org/officeDocument/2006/relationships/image" Target="../media/image29.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31.jpeg"/><Relationship Id="rId1" Type="http://schemas.openxmlformats.org/officeDocument/2006/relationships/image" Target="../media/image30.jpe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33.jpeg"/><Relationship Id="rId1" Type="http://schemas.openxmlformats.org/officeDocument/2006/relationships/image" Target="../media/image32.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35.jpeg"/><Relationship Id="rId1" Type="http://schemas.openxmlformats.org/officeDocument/2006/relationships/image" Target="../media/image34.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6.jpe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7.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endParaRPr lang="en-IN"/>
          </a:p>
        </p:txBody>
      </p:sp>
      <p:sp>
        <p:nvSpPr>
          <p:cNvPr id="3" name="Subtitle 2"/>
          <p:cNvSpPr>
            <a:spLocks noGrp="1"/>
          </p:cNvSpPr>
          <p:nvPr>
            <p:ph type="body" idx="1"/>
          </p:nvPr>
        </p:nvSpPr>
        <p:spPr>
          <a:xfrm>
            <a:off x="450425" y="1425247"/>
            <a:ext cx="11663277" cy="5663089"/>
          </a:xfrm>
        </p:spPr>
        <p:txBody>
          <a:bodyPr/>
          <a:lstStyle/>
          <a:p>
            <a:r>
              <a:rPr lang="en-US" sz="4400" dirty="0">
                <a:solidFill>
                  <a:schemeClr val="tx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Design ,Modelling and Material Optimization of an </a:t>
            </a:r>
            <a:r>
              <a:rPr lang="en-US" sz="4400" dirty="0" err="1">
                <a:solidFill>
                  <a:schemeClr val="tx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Automative</a:t>
            </a:r>
            <a:r>
              <a:rPr lang="en-US" sz="4400" dirty="0">
                <a:solidFill>
                  <a:schemeClr val="tx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Suspension System </a:t>
            </a:r>
            <a:endParaRPr lang="en-US" sz="4400" dirty="0">
              <a:solidFill>
                <a:schemeClr val="tx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endParaRPr lang="en-US" sz="4400" dirty="0">
              <a:solidFill>
                <a:schemeClr val="tx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gn="l"/>
            <a:r>
              <a:rPr lang="en-US" sz="3200" dirty="0">
                <a:solidFill>
                  <a:schemeClr val="tx2"/>
                </a:solidFill>
                <a:latin typeface="Times New Roman" panose="02020603050405020304" pitchFamily="18" charset="0"/>
                <a:cs typeface="Times New Roman" panose="02020603050405020304" pitchFamily="18" charset="0"/>
              </a:rPr>
              <a:t>Team Members:-                                     Guided by:-</a:t>
            </a:r>
            <a:endParaRPr lang="en-US" sz="3200" dirty="0">
              <a:solidFill>
                <a:schemeClr val="tx2"/>
              </a:solidFill>
              <a:latin typeface="Times New Roman" panose="02020603050405020304" pitchFamily="18" charset="0"/>
              <a:cs typeface="Times New Roman" panose="02020603050405020304" pitchFamily="18" charset="0"/>
            </a:endParaRPr>
          </a:p>
          <a:p>
            <a:pPr algn="l"/>
            <a:r>
              <a:rPr lang="en-US" sz="2000" dirty="0">
                <a:latin typeface="Times New Roman" panose="02020603050405020304" pitchFamily="18" charset="0"/>
                <a:cs typeface="Times New Roman" panose="02020603050405020304" pitchFamily="18" charset="0"/>
              </a:rPr>
              <a:t> 1.  Siva S           -127012049                                                            Dr Ramesh S</a:t>
            </a:r>
            <a:endParaRPr lang="en-US" sz="2000" dirty="0">
              <a:latin typeface="Times New Roman" panose="02020603050405020304" pitchFamily="18" charset="0"/>
              <a:cs typeface="Times New Roman" panose="02020603050405020304" pitchFamily="18" charset="0"/>
            </a:endParaRPr>
          </a:p>
          <a:p>
            <a:pPr algn="l"/>
            <a:r>
              <a:rPr lang="en-US" sz="2000" dirty="0">
                <a:latin typeface="Times New Roman" panose="02020603050405020304" pitchFamily="18" charset="0"/>
                <a:cs typeface="Times New Roman" panose="02020603050405020304" pitchFamily="18" charset="0"/>
              </a:rPr>
              <a:t> 2.  Sruthi Raj R  -127012053                                                           Assistant Professor</a:t>
            </a:r>
            <a:endParaRPr lang="en-US" sz="2000" dirty="0">
              <a:latin typeface="Times New Roman" panose="02020603050405020304" pitchFamily="18" charset="0"/>
              <a:cs typeface="Times New Roman" panose="02020603050405020304" pitchFamily="18" charset="0"/>
            </a:endParaRPr>
          </a:p>
          <a:p>
            <a:pPr algn="l"/>
            <a:r>
              <a:rPr lang="en-US" sz="2000" dirty="0">
                <a:latin typeface="Times New Roman" panose="02020603050405020304" pitchFamily="18" charset="0"/>
                <a:cs typeface="Times New Roman" panose="02020603050405020304" pitchFamily="18" charset="0"/>
              </a:rPr>
              <a:t> 3.  </a:t>
            </a:r>
            <a:r>
              <a:rPr lang="en-US" sz="2000" dirty="0" err="1">
                <a:latin typeface="Times New Roman" panose="02020603050405020304" pitchFamily="18" charset="0"/>
                <a:cs typeface="Times New Roman" panose="02020603050405020304" pitchFamily="18" charset="0"/>
              </a:rPr>
              <a:t>Perarasu</a:t>
            </a:r>
            <a:r>
              <a:rPr lang="en-US" sz="2000" dirty="0">
                <a:latin typeface="Times New Roman" panose="02020603050405020304" pitchFamily="18" charset="0"/>
                <a:cs typeface="Times New Roman" panose="02020603050405020304" pitchFamily="18" charset="0"/>
              </a:rPr>
              <a:t>    M -127012037                                                            SOME</a:t>
            </a:r>
            <a:endParaRPr lang="en-US" sz="2000" dirty="0">
              <a:latin typeface="Times New Roman" panose="02020603050405020304" pitchFamily="18" charset="0"/>
              <a:cs typeface="Times New Roman" panose="02020603050405020304" pitchFamily="18" charset="0"/>
            </a:endParaRPr>
          </a:p>
          <a:p>
            <a:endParaRPr lang="en-US" sz="4400" dirty="0">
              <a:solidFill>
                <a:schemeClr val="tx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r>
              <a:rPr lang="en-US" sz="1400" dirty="0">
                <a:solidFill>
                  <a:schemeClr val="tx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endParaRPr lang="en-US" sz="1400" dirty="0">
              <a:solidFill>
                <a:schemeClr val="tx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endParaRPr lang="en-US" sz="1400" dirty="0">
              <a:solidFill>
                <a:schemeClr val="tx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r>
              <a:rPr lang="en-US" sz="1400" dirty="0">
                <a:solidFill>
                  <a:schemeClr val="tx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dirty="0">
                <a:solidFill>
                  <a:schemeClr val="tx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a:t>
            </a:r>
            <a:endParaRPr lang="en-US" dirty="0">
              <a:solidFill>
                <a:schemeClr val="tx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endParaRPr lang="en-IN" sz="4400" dirty="0">
              <a:solidFill>
                <a:schemeClr val="tx2"/>
              </a:solidFill>
              <a:effectLst>
                <a:outerShdw blurRad="38100" dist="38100" dir="2700000" algn="tl">
                  <a:srgbClr val="000000">
                    <a:alpha val="43137"/>
                  </a:srgbClr>
                </a:outerShdw>
              </a:effectLs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2728" y="155641"/>
            <a:ext cx="7216987" cy="553998"/>
          </a:xfrm>
        </p:spPr>
        <p:txBody>
          <a:bodyPr/>
          <a:lstStyle/>
          <a:p>
            <a:r>
              <a:rPr lang="en-US" sz="3600" i="0" dirty="0">
                <a:effectLst/>
                <a:latin typeface="Arial Rounded MT Bold" panose="020F0704030504030204" pitchFamily="34" charset="0"/>
              </a:rPr>
              <a:t>Objective</a:t>
            </a:r>
            <a:endParaRPr lang="en-IN" sz="3600" dirty="0"/>
          </a:p>
        </p:txBody>
      </p:sp>
      <p:sp>
        <p:nvSpPr>
          <p:cNvPr id="3" name="Text Placeholder 2"/>
          <p:cNvSpPr>
            <a:spLocks noGrp="1"/>
          </p:cNvSpPr>
          <p:nvPr>
            <p:ph type="body" idx="1"/>
          </p:nvPr>
        </p:nvSpPr>
        <p:spPr>
          <a:xfrm>
            <a:off x="324590" y="913518"/>
            <a:ext cx="11797502" cy="5336280"/>
          </a:xfrm>
        </p:spPr>
        <p:txBody>
          <a:bodyPr/>
          <a:lstStyle/>
          <a:p>
            <a:pPr algn="l">
              <a:buFont typeface="Arial" panose="020B0604020202020204" pitchFamily="34" charset="0"/>
              <a:buChar char="•"/>
            </a:pPr>
            <a:r>
              <a:rPr lang="en-US" sz="2800" b="0" i="0" dirty="0">
                <a:effectLst/>
                <a:latin typeface="Times New Roman" panose="02020603050405020304" pitchFamily="18" charset="0"/>
                <a:cs typeface="Times New Roman" panose="02020603050405020304" pitchFamily="18" charset="0"/>
              </a:rPr>
              <a:t>The existing wishbone (control arm) is heavier and more expensive than desired, which increases vehicle weight and overall suspension cost.​</a:t>
            </a:r>
            <a:endParaRPr lang="en-US" sz="2800" b="0" i="0" dirty="0">
              <a:effectLst/>
              <a:latin typeface="Times New Roman" panose="02020603050405020304" pitchFamily="18" charset="0"/>
              <a:cs typeface="Times New Roman" panose="02020603050405020304" pitchFamily="18" charset="0"/>
            </a:endParaRPr>
          </a:p>
          <a:p>
            <a:pPr algn="l"/>
            <a:endParaRPr lang="en-US" sz="2800" b="0" i="0" dirty="0">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sz="2800" b="0" i="0" dirty="0">
                <a:effectLst/>
                <a:latin typeface="Times New Roman" panose="02020603050405020304" pitchFamily="18" charset="0"/>
                <a:cs typeface="Times New Roman" panose="02020603050405020304" pitchFamily="18" charset="0"/>
              </a:rPr>
              <a:t>Our main objective is to redesign the wishbone by selecting alternative materials that significantly reduce its weight without compromising strength and stiffness.</a:t>
            </a:r>
            <a:endParaRPr lang="en-US" sz="2800" b="0" i="0" dirty="0">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sz="2800" b="0" i="0" dirty="0">
                <a:effectLst/>
                <a:latin typeface="Times New Roman" panose="02020603050405020304" pitchFamily="18" charset="0"/>
                <a:cs typeface="Times New Roman" panose="02020603050405020304" pitchFamily="18" charset="0"/>
              </a:rPr>
              <a:t>​</a:t>
            </a:r>
            <a:endParaRPr lang="en-US" sz="2800" b="0" i="0" dirty="0">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sz="2800" b="0" i="0" dirty="0">
                <a:effectLst/>
                <a:latin typeface="Times New Roman" panose="02020603050405020304" pitchFamily="18" charset="0"/>
                <a:cs typeface="Times New Roman" panose="02020603050405020304" pitchFamily="18" charset="0"/>
              </a:rPr>
              <a:t>We aim to identify materials that can safely withstand real operating loads while maintaining required factor of safety</a:t>
            </a:r>
            <a:endParaRPr lang="en-US" sz="2800" b="0" i="0" dirty="0">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endParaRPr lang="en-US" sz="2800" b="0" i="0" dirty="0">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sz="2800" b="0" i="0" dirty="0">
                <a:effectLst/>
                <a:latin typeface="Times New Roman" panose="02020603050405020304" pitchFamily="18" charset="0"/>
                <a:cs typeface="Times New Roman" panose="02020603050405020304" pitchFamily="18" charset="0"/>
              </a:rPr>
              <a:t>The selected material should not only be lightweight but also </a:t>
            </a:r>
            <a:r>
              <a:rPr lang="en-US" sz="2800" b="1" i="0" dirty="0">
                <a:effectLst/>
                <a:latin typeface="Times New Roman" panose="02020603050405020304" pitchFamily="18" charset="0"/>
                <a:cs typeface="Times New Roman" panose="02020603050405020304" pitchFamily="18" charset="0"/>
              </a:rPr>
              <a:t>cost‑effective</a:t>
            </a:r>
            <a:r>
              <a:rPr lang="en-US" sz="2800" b="0" i="0" dirty="0">
                <a:effectLst/>
                <a:latin typeface="Times New Roman" panose="02020603050405020304" pitchFamily="18" charset="0"/>
                <a:cs typeface="Times New Roman" panose="02020603050405020304" pitchFamily="18" charset="0"/>
              </a:rPr>
              <a:t>, so that the improved wishbone design is suitable for practical, large‑scale automotive production.​</a:t>
            </a:r>
            <a:endParaRPr lang="en-US" sz="2800" b="0" i="0" dirty="0">
              <a:effectLst/>
              <a:latin typeface="Times New Roman" panose="02020603050405020304" pitchFamily="18" charset="0"/>
              <a:cs typeface="Times New Roman" panose="02020603050405020304" pitchFamily="18" charset="0"/>
            </a:endParaRPr>
          </a:p>
          <a:p>
            <a:r>
              <a:rPr lang="en-IN" dirty="0"/>
              <a:t>                                                                                                                                                                                       2</a:t>
            </a:r>
            <a:endParaRPr lang="en-IN" dirty="0"/>
          </a:p>
          <a:p>
            <a:r>
              <a:rPr lang="en-IN" dirty="0"/>
              <a:t>												                       												         </a:t>
            </a:r>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1639" y="54402"/>
            <a:ext cx="7216987" cy="984885"/>
          </a:xfrm>
        </p:spPr>
        <p:txBody>
          <a:bodyPr/>
          <a:lstStyle/>
          <a:p>
            <a:r>
              <a:rPr lang="en-US" sz="3600" dirty="0">
                <a:latin typeface="Arial Rounded MT Bold" panose="020F0704030504030204" pitchFamily="34" charset="0"/>
              </a:rPr>
              <a:t>Problem statement</a:t>
            </a:r>
            <a:br>
              <a:rPr lang="en-IN" sz="2800" dirty="0"/>
            </a:br>
            <a:endParaRPr lang="en-IN" dirty="0"/>
          </a:p>
        </p:txBody>
      </p:sp>
      <p:sp>
        <p:nvSpPr>
          <p:cNvPr id="3" name="Text Placeholder 2"/>
          <p:cNvSpPr>
            <a:spLocks noGrp="1"/>
          </p:cNvSpPr>
          <p:nvPr>
            <p:ph type="body" idx="1"/>
          </p:nvPr>
        </p:nvSpPr>
        <p:spPr>
          <a:xfrm>
            <a:off x="450425" y="1425246"/>
            <a:ext cx="11641055" cy="5355312"/>
          </a:xfrm>
        </p:spPr>
        <p:txBody>
          <a:bodyPr/>
          <a:lstStyle/>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800" b="0" i="0" u="none" strike="noStrike" cap="none" normalizeH="0" baseline="0" dirty="0">
                <a:ln>
                  <a:noFill/>
                </a:ln>
                <a:solidFill>
                  <a:schemeClr val="tx1"/>
                </a:solidFill>
                <a:effectLst/>
                <a:latin typeface="pplxSerif"/>
              </a:rPr>
              <a:t>Design and analyze a double wishbone suspension system to improve ride comfort, handling stability, </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and under varying load conditions. </a:t>
            </a:r>
            <a:b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800" b="0" i="0" u="none" strike="noStrike" cap="none" normalizeH="0" baseline="0" dirty="0">
                <a:ln>
                  <a:noFill/>
                </a:ln>
                <a:solidFill>
                  <a:schemeClr val="tx1"/>
                </a:solidFill>
                <a:effectLst/>
                <a:latin typeface="pplxSerif"/>
              </a:rPr>
              <a:t>materials (conventional and lightweight) based on stress, deformation, factor of safety.</a:t>
            </a:r>
            <a:br>
              <a:rPr kumimoji="0" lang="en-US" altLang="en-US" sz="2800" b="0" i="0" u="none" strike="noStrike" cap="none" normalizeH="0" baseline="0" dirty="0">
                <a:ln>
                  <a:noFill/>
                </a:ln>
                <a:solidFill>
                  <a:schemeClr val="tx1"/>
                </a:solidFill>
                <a:effectLst/>
                <a:latin typeface="pplxSerif"/>
              </a:rPr>
            </a:br>
            <a:endParaRPr kumimoji="0" lang="en-US" altLang="en-US" sz="2800" b="0" i="0" u="none" strike="noStrike" cap="none" normalizeH="0" baseline="0" dirty="0">
              <a:ln>
                <a:noFill/>
              </a:ln>
              <a:solidFill>
                <a:schemeClr val="tx1"/>
              </a:solidFill>
              <a:effectLst/>
              <a:latin typeface="pplxSerif"/>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800" b="0" i="0" u="none" strike="noStrike" cap="none" normalizeH="0" baseline="0" dirty="0">
                <a:ln>
                  <a:noFill/>
                </a:ln>
                <a:solidFill>
                  <a:schemeClr val="tx1"/>
                </a:solidFill>
                <a:effectLst/>
                <a:latin typeface="pplxSerif"/>
              </a:rPr>
              <a:t>Optimize the design to reduce spring weight while maintaining strength, durability, and overall ride quality. </a:t>
            </a:r>
            <a:endParaRPr kumimoji="0" lang="en-US" altLang="en-US" sz="2800" b="0" i="0" u="none" strike="noStrike" cap="none" normalizeH="0" baseline="0" dirty="0">
              <a:ln>
                <a:noFill/>
              </a:ln>
              <a:solidFill>
                <a:schemeClr val="tx1"/>
              </a:solidFill>
              <a:effectLst/>
              <a:latin typeface="pplxSerif"/>
            </a:endParaRPr>
          </a:p>
          <a:p>
            <a:pPr marL="0" marR="0" lvl="0" indent="0" algn="l" defTabSz="914400" rtl="0" eaLnBrk="0" fontAlgn="base" latinLnBrk="0" hangingPunct="0">
              <a:lnSpc>
                <a:spcPct val="100000"/>
              </a:lnSpc>
              <a:spcBef>
                <a:spcPct val="0"/>
              </a:spcBef>
              <a:spcAft>
                <a:spcPct val="0"/>
              </a:spcAft>
              <a:buClrTx/>
              <a:buSzTx/>
              <a:buFontTx/>
              <a:buChar char="•"/>
            </a:pPr>
            <a:endParaRPr lang="en-US" sz="2800" dirty="0">
              <a:latin typeface="pplxSerif"/>
            </a:endParaRPr>
          </a:p>
          <a:p>
            <a:pPr lvl="0" algn="l" rtl="0" eaLnBrk="0" fontAlgn="base" hangingPunct="0">
              <a:spcBef>
                <a:spcPct val="0"/>
              </a:spcBef>
              <a:spcAft>
                <a:spcPct val="0"/>
              </a:spcAft>
            </a:pPr>
            <a:r>
              <a:rPr lang="en-US" sz="2800" dirty="0">
                <a:latin typeface="pplxSerif"/>
              </a:rPr>
              <a:t> </a:t>
            </a:r>
            <a:endParaRPr lang="en-US" sz="2800" dirty="0">
              <a:latin typeface="pplxSerif"/>
            </a:endParaRPr>
          </a:p>
          <a:p>
            <a:pPr lvl="0" algn="l" rtl="0" eaLnBrk="0" fontAlgn="base" hangingPunct="0">
              <a:spcBef>
                <a:spcPct val="0"/>
              </a:spcBef>
              <a:spcAft>
                <a:spcPct val="0"/>
              </a:spcAft>
            </a:pPr>
            <a:r>
              <a:rPr lang="en-US" dirty="0">
                <a:latin typeface="pplxSerif"/>
              </a:rPr>
              <a:t>                                                                                                                                                                                            												                        3</a:t>
            </a:r>
            <a:endParaRPr lang="en-US" dirty="0">
              <a:latin typeface="pplxSerif"/>
            </a:endParaRPr>
          </a:p>
          <a:p>
            <a:pPr marL="0" marR="0" lvl="0" indent="0" algn="l" defTabSz="914400" rtl="0" eaLnBrk="0" fontAlgn="base" latinLnBrk="0" hangingPunct="0">
              <a:lnSpc>
                <a:spcPct val="100000"/>
              </a:lnSpc>
              <a:spcBef>
                <a:spcPct val="0"/>
              </a:spcBef>
              <a:spcAft>
                <a:spcPct val="0"/>
              </a:spcAft>
              <a:buClrTx/>
              <a:buSzTx/>
            </a:pPr>
            <a:endParaRPr lang="en-I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052" y="195987"/>
            <a:ext cx="9144000" cy="553998"/>
          </a:xfrm>
        </p:spPr>
        <p:txBody>
          <a:bodyPr/>
          <a:lstStyle/>
          <a:p>
            <a:pPr algn="l"/>
            <a:r>
              <a:rPr lang="en-US" sz="3600" dirty="0">
                <a:latin typeface="Arial Rounded MT Bold" panose="020F0704030504030204" pitchFamily="34" charset="0"/>
              </a:rPr>
              <a:t>Literature Survey</a:t>
            </a:r>
            <a:endParaRPr lang="en-IN" sz="3600" dirty="0">
              <a:latin typeface="Arial Rounded MT Bold" panose="020F0704030504030204" pitchFamily="34" charset="0"/>
            </a:endParaRPr>
          </a:p>
        </p:txBody>
      </p:sp>
      <p:sp>
        <p:nvSpPr>
          <p:cNvPr id="3" name="Subtitle 2"/>
          <p:cNvSpPr>
            <a:spLocks noGrp="1"/>
          </p:cNvSpPr>
          <p:nvPr>
            <p:ph type="subTitle" idx="1"/>
          </p:nvPr>
        </p:nvSpPr>
        <p:spPr>
          <a:xfrm>
            <a:off x="11741791" y="5973420"/>
            <a:ext cx="657138" cy="307777"/>
          </a:xfrm>
        </p:spPr>
        <p:txBody>
          <a:bodyPr/>
          <a:lstStyle/>
          <a:p>
            <a:r>
              <a:rPr lang="en-US" sz="2000" dirty="0"/>
              <a:t>4</a:t>
            </a:r>
            <a:endParaRPr lang="en-IN" sz="2000" dirty="0"/>
          </a:p>
        </p:txBody>
      </p:sp>
      <p:graphicFrame>
        <p:nvGraphicFramePr>
          <p:cNvPr id="6" name="Table 6"/>
          <p:cNvGraphicFramePr>
            <a:graphicFrameLocks noGrp="1"/>
          </p:cNvGraphicFramePr>
          <p:nvPr/>
        </p:nvGraphicFramePr>
        <p:xfrm>
          <a:off x="125837" y="1018453"/>
          <a:ext cx="11736197" cy="5108855"/>
        </p:xfrm>
        <a:graphic>
          <a:graphicData uri="http://schemas.openxmlformats.org/drawingml/2006/table">
            <a:tbl>
              <a:tblPr firstRow="1" bandRow="1">
                <a:tableStyleId>{5C22544A-7EE6-4342-B048-85BDC9FD1C3A}</a:tableStyleId>
              </a:tblPr>
              <a:tblGrid>
                <a:gridCol w="857335"/>
                <a:gridCol w="3837145"/>
                <a:gridCol w="2347239"/>
                <a:gridCol w="2347239"/>
                <a:gridCol w="2347239"/>
              </a:tblGrid>
              <a:tr h="352710">
                <a:tc>
                  <a:txBody>
                    <a:bodyPr/>
                    <a:lstStyle/>
                    <a:p>
                      <a:r>
                        <a:rPr lang="en-US" dirty="0"/>
                        <a:t>S No</a:t>
                      </a:r>
                      <a:endParaRPr lang="en-IN" dirty="0"/>
                    </a:p>
                  </a:txBody>
                  <a:tcPr/>
                </a:tc>
                <a:tc>
                  <a:txBody>
                    <a:bodyPr/>
                    <a:lstStyle/>
                    <a:p>
                      <a:r>
                        <a:rPr lang="en-US" dirty="0"/>
                        <a:t>                 Title</a:t>
                      </a:r>
                      <a:endParaRPr lang="en-IN" dirty="0"/>
                    </a:p>
                  </a:txBody>
                  <a:tcPr/>
                </a:tc>
                <a:tc>
                  <a:txBody>
                    <a:bodyPr/>
                    <a:lstStyle/>
                    <a:p>
                      <a:r>
                        <a:rPr lang="en-US" dirty="0"/>
                        <a:t>Author</a:t>
                      </a:r>
                      <a:endParaRPr lang="en-IN" dirty="0"/>
                    </a:p>
                  </a:txBody>
                  <a:tcPr/>
                </a:tc>
                <a:tc>
                  <a:txBody>
                    <a:bodyPr/>
                    <a:lstStyle/>
                    <a:p>
                      <a:r>
                        <a:rPr lang="en-US" dirty="0"/>
                        <a:t>Key findings</a:t>
                      </a:r>
                      <a:endParaRPr lang="en-IN" dirty="0"/>
                    </a:p>
                  </a:txBody>
                  <a:tcPr/>
                </a:tc>
                <a:tc>
                  <a:txBody>
                    <a:bodyPr/>
                    <a:lstStyle/>
                    <a:p>
                      <a:r>
                        <a:rPr lang="en-US" dirty="0"/>
                        <a:t>Limitations</a:t>
                      </a:r>
                      <a:endParaRPr lang="en-US" dirty="0"/>
                    </a:p>
                  </a:txBody>
                  <a:tcPr/>
                </a:tc>
              </a:tr>
              <a:tr h="1682247">
                <a:tc>
                  <a:txBody>
                    <a:bodyPr/>
                    <a:lstStyle/>
                    <a:p>
                      <a:r>
                        <a:rPr lang="en-US" dirty="0"/>
                        <a:t>1</a:t>
                      </a:r>
                      <a:endParaRPr lang="en-IN" dirty="0"/>
                    </a:p>
                  </a:txBody>
                  <a:tcPr/>
                </a:tc>
                <a:tc>
                  <a:txBody>
                    <a:bodyPr/>
                    <a:lstStyle/>
                    <a:p>
                      <a:r>
                        <a:rPr lang="en-US" dirty="0"/>
                        <a:t>Design and analysis of double wishbone suspension system-2020</a:t>
                      </a:r>
                      <a:endParaRPr lang="en-IN" dirty="0"/>
                    </a:p>
                  </a:txBody>
                  <a:tcPr/>
                </a:tc>
                <a:tc>
                  <a:txBody>
                    <a:bodyPr/>
                    <a:lstStyle/>
                    <a:p>
                      <a:r>
                        <a:rPr lang="en-IN" dirty="0"/>
                        <a:t>Pranav Upadhyay</a:t>
                      </a:r>
                      <a:endParaRPr lang="en-IN" dirty="0"/>
                    </a:p>
                  </a:txBody>
                  <a:tcPr/>
                </a:tc>
                <a:tc>
                  <a:txBody>
                    <a:bodyPr/>
                    <a:lstStyle/>
                    <a:p>
                      <a:r>
                        <a:rPr lang="en-US" b="0" i="0" dirty="0">
                          <a:solidFill>
                            <a:schemeClr val="dk1"/>
                          </a:solidFill>
                          <a:effectLst/>
                          <a:latin typeface="+mn-lt"/>
                          <a:ea typeface="+mn-ea"/>
                          <a:cs typeface="+mn-cs"/>
                        </a:rPr>
                        <a:t>Calculated shocker stiffness based on weight transfer during braking, ensuring load absorption and road traction.</a:t>
                      </a:r>
                      <a:endParaRPr lang="en-IN" dirty="0"/>
                    </a:p>
                  </a:txBody>
                  <a:tcPr/>
                </a:tc>
                <a:tc>
                  <a:txBody>
                    <a:bodyPr/>
                    <a:lstStyle/>
                    <a:p>
                      <a:r>
                        <a:rPr lang="en-IN" b="0" i="0" dirty="0">
                          <a:solidFill>
                            <a:schemeClr val="dk1"/>
                          </a:solidFill>
                          <a:effectLst/>
                          <a:latin typeface="+mn-lt"/>
                          <a:ea typeface="+mn-ea"/>
                          <a:cs typeface="+mn-cs"/>
                        </a:rPr>
                        <a:t>No cost-benefit analysis</a:t>
                      </a:r>
                      <a:endParaRPr lang="en-IN" dirty="0"/>
                    </a:p>
                  </a:txBody>
                  <a:tcPr/>
                </a:tc>
              </a:tr>
              <a:tr h="994055">
                <a:tc>
                  <a:txBody>
                    <a:bodyPr/>
                    <a:lstStyle/>
                    <a:p>
                      <a:r>
                        <a:rPr lang="en-US" dirty="0"/>
                        <a:t>2</a:t>
                      </a:r>
                      <a:endParaRPr lang="en-IN" dirty="0"/>
                    </a:p>
                  </a:txBody>
                  <a:tcPr/>
                </a:tc>
                <a:tc>
                  <a:txBody>
                    <a:bodyPr/>
                    <a:lstStyle/>
                    <a:p>
                      <a:r>
                        <a:rPr lang="en-US" dirty="0"/>
                        <a:t>Design and FEA Analysis of a Double Wishbone Suspension System- 2021</a:t>
                      </a:r>
                      <a:endParaRPr lang="en-IN" dirty="0"/>
                    </a:p>
                  </a:txBody>
                  <a:tcPr/>
                </a:tc>
                <a:tc>
                  <a:txBody>
                    <a:bodyPr/>
                    <a:lstStyle/>
                    <a:p>
                      <a:r>
                        <a:rPr lang="en-US" dirty="0"/>
                        <a:t>Smit </a:t>
                      </a:r>
                      <a:r>
                        <a:rPr lang="en-US" dirty="0" err="1"/>
                        <a:t>Shendge</a:t>
                      </a:r>
                      <a:r>
                        <a:rPr lang="en-US" dirty="0"/>
                        <a:t> , </a:t>
                      </a:r>
                      <a:r>
                        <a:rPr lang="en-US" dirty="0" err="1"/>
                        <a:t>Heet</a:t>
                      </a:r>
                      <a:r>
                        <a:rPr lang="en-US" dirty="0"/>
                        <a:t> Patel, Yash Shinde</a:t>
                      </a:r>
                      <a:endParaRPr lang="en-IN" dirty="0"/>
                    </a:p>
                  </a:txBody>
                  <a:tcPr/>
                </a:tc>
                <a:tc>
                  <a:txBody>
                    <a:bodyPr/>
                    <a:lstStyle/>
                    <a:p>
                      <a:r>
                        <a:rPr lang="en-US" dirty="0"/>
                        <a:t>Weight of the component was  reduced</a:t>
                      </a:r>
                      <a:endParaRPr lang="en-IN" dirty="0"/>
                    </a:p>
                  </a:txBody>
                  <a:tcPr/>
                </a:tc>
                <a:tc>
                  <a:txBody>
                    <a:bodyPr/>
                    <a:lstStyle/>
                    <a:p>
                      <a:r>
                        <a:rPr lang="en-US" dirty="0"/>
                        <a:t>Fatigue analysis and long-term durability study are not included.</a:t>
                      </a:r>
                      <a:endParaRPr lang="en-IN" dirty="0"/>
                    </a:p>
                  </a:txBody>
                  <a:tcPr/>
                </a:tc>
              </a:tr>
              <a:tr h="1911645">
                <a:tc>
                  <a:txBody>
                    <a:bodyPr/>
                    <a:lstStyle/>
                    <a:p>
                      <a:r>
                        <a:rPr lang="en-US" dirty="0"/>
                        <a:t>3</a:t>
                      </a:r>
                      <a:endParaRPr lang="en-IN" dirty="0"/>
                    </a:p>
                  </a:txBody>
                  <a:tcPr/>
                </a:tc>
                <a:tc>
                  <a:txBody>
                    <a:bodyPr/>
                    <a:lstStyle/>
                    <a:p>
                      <a:r>
                        <a:rPr lang="en-US" dirty="0"/>
                        <a:t>Structural Analysis of Double-Wishbone Suspension System -2021</a:t>
                      </a:r>
                      <a:endParaRPr lang="en-IN" dirty="0"/>
                    </a:p>
                  </a:txBody>
                  <a:tcPr/>
                </a:tc>
                <a:tc>
                  <a:txBody>
                    <a:bodyPr/>
                    <a:lstStyle/>
                    <a:p>
                      <a:r>
                        <a:rPr lang="en-IN" dirty="0"/>
                        <a:t>Manas </a:t>
                      </a:r>
                      <a:r>
                        <a:rPr lang="en-IN" dirty="0" err="1"/>
                        <a:t>Metar</a:t>
                      </a:r>
                      <a:endParaRPr lang="en-IN" dirty="0"/>
                    </a:p>
                  </a:txBody>
                  <a:tcPr/>
                </a:tc>
                <a:tc>
                  <a:txBody>
                    <a:bodyPr/>
                    <a:lstStyle/>
                    <a:p>
                      <a:r>
                        <a:rPr lang="en-US" dirty="0"/>
                        <a:t>The study validates that double wishbone suspension can sustain structural loads within permissible limits under static conditions.</a:t>
                      </a:r>
                      <a:endParaRPr lang="en-IN" dirty="0"/>
                    </a:p>
                  </a:txBody>
                  <a:tcPr/>
                </a:tc>
                <a:tc>
                  <a:txBody>
                    <a:bodyPr/>
                    <a:lstStyle/>
                    <a:p>
                      <a:r>
                        <a:rPr lang="en-US" dirty="0"/>
                        <a:t>No material optimization or weight reduction study was conducted.</a:t>
                      </a:r>
                      <a:endParaRPr lang="en-IN" dirty="0"/>
                    </a:p>
                  </a:txBody>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33000" y="107004"/>
            <a:ext cx="7216987" cy="671208"/>
          </a:xfrm>
        </p:spPr>
        <p:txBody>
          <a:bodyPr/>
          <a:lstStyle/>
          <a:p>
            <a:r>
              <a:rPr lang="en-US" sz="3600" dirty="0">
                <a:latin typeface="Arial Rounded MT Bold" panose="020F0704030504030204" pitchFamily="34" charset="0"/>
              </a:rPr>
              <a:t>Methodology</a:t>
            </a:r>
            <a:endParaRPr lang="en-IN" sz="3600" dirty="0"/>
          </a:p>
        </p:txBody>
      </p:sp>
      <p:pic>
        <p:nvPicPr>
          <p:cNvPr id="4" name="Picture 3"/>
          <p:cNvPicPr>
            <a:picLocks noChangeAspect="1"/>
          </p:cNvPicPr>
          <p:nvPr/>
        </p:nvPicPr>
        <p:blipFill>
          <a:blip r:embed="rId1"/>
          <a:stretch>
            <a:fillRect/>
          </a:stretch>
        </p:blipFill>
        <p:spPr>
          <a:xfrm>
            <a:off x="2768724" y="826900"/>
            <a:ext cx="7943776" cy="5346655"/>
          </a:xfrm>
          <a:prstGeom prst="rect">
            <a:avLst/>
          </a:prstGeom>
        </p:spPr>
      </p:pic>
      <p:sp>
        <p:nvSpPr>
          <p:cNvPr id="3" name="Text Placeholder 2"/>
          <p:cNvSpPr>
            <a:spLocks noGrp="1"/>
          </p:cNvSpPr>
          <p:nvPr>
            <p:ph type="body" idx="1"/>
          </p:nvPr>
        </p:nvSpPr>
        <p:spPr>
          <a:xfrm>
            <a:off x="849260" y="5865778"/>
            <a:ext cx="11259820" cy="307777"/>
          </a:xfrm>
        </p:spPr>
        <p:txBody>
          <a:bodyPr/>
          <a:lstStyle/>
          <a:p>
            <a:r>
              <a:rPr lang="en-US" dirty="0"/>
              <a:t>                                                                                                           				              	 5</a:t>
            </a:r>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0277" y="77821"/>
            <a:ext cx="7216987" cy="553998"/>
          </a:xfrm>
        </p:spPr>
        <p:txBody>
          <a:bodyPr/>
          <a:lstStyle/>
          <a:p>
            <a:r>
              <a:rPr lang="en-US" sz="3600" dirty="0" err="1">
                <a:latin typeface="Arial Rounded MT Bold" panose="020F0704030504030204" pitchFamily="34" charset="0"/>
              </a:rPr>
              <a:t>Refrences</a:t>
            </a:r>
            <a:endParaRPr lang="en-IN" sz="3600" dirty="0"/>
          </a:p>
        </p:txBody>
      </p:sp>
      <p:sp>
        <p:nvSpPr>
          <p:cNvPr id="3" name="Text Placeholder 2"/>
          <p:cNvSpPr>
            <a:spLocks noGrp="1"/>
          </p:cNvSpPr>
          <p:nvPr>
            <p:ph type="body" idx="1"/>
          </p:nvPr>
        </p:nvSpPr>
        <p:spPr>
          <a:xfrm>
            <a:off x="574242" y="5256923"/>
            <a:ext cx="11617757" cy="1231106"/>
          </a:xfrm>
        </p:spPr>
        <p:txBody>
          <a:bodyPr/>
          <a:lstStyle/>
          <a:p>
            <a:r>
              <a:rPr lang="en-US" dirty="0"/>
              <a:t> </a:t>
            </a:r>
            <a:r>
              <a:rPr lang="en-US" sz="2000" b="0" dirty="0"/>
              <a:t>Source: GRABCAD</a:t>
            </a:r>
            <a:r>
              <a:rPr lang="en-IN" dirty="0"/>
              <a:t>                                                                                                                   </a:t>
            </a:r>
            <a:endParaRPr lang="en-IN" dirty="0"/>
          </a:p>
          <a:p>
            <a:r>
              <a:rPr lang="en-IN" dirty="0"/>
              <a:t> Source website </a:t>
            </a:r>
            <a:r>
              <a:rPr lang="en-IN" dirty="0">
                <a:hlinkClick r:id="rId1"/>
              </a:rPr>
              <a:t>:grabcad.com/library/audi-double-wishbone-suspension-system-1</a:t>
            </a:r>
            <a:r>
              <a:rPr lang="en-IN" dirty="0"/>
              <a:t>															       6</a:t>
            </a:r>
            <a:endParaRPr lang="en-IN" dirty="0"/>
          </a:p>
          <a:p>
            <a:endParaRPr lang="en-US" dirty="0"/>
          </a:p>
        </p:txBody>
      </p:sp>
      <p:pic>
        <p:nvPicPr>
          <p:cNvPr id="4" name="Picture 3"/>
          <p:cNvPicPr/>
          <p:nvPr/>
        </p:nvPicPr>
        <p:blipFill>
          <a:blip r:embed="rId2"/>
          <a:stretch>
            <a:fillRect/>
          </a:stretch>
        </p:blipFill>
        <p:spPr>
          <a:xfrm>
            <a:off x="486382" y="1139412"/>
            <a:ext cx="6403381" cy="374772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2728" y="129580"/>
            <a:ext cx="7216987" cy="553998"/>
          </a:xfrm>
        </p:spPr>
        <p:txBody>
          <a:bodyPr/>
          <a:lstStyle/>
          <a:p>
            <a:r>
              <a:rPr lang="en-US" sz="3600" dirty="0">
                <a:latin typeface="Arial Rounded MT Bold" panose="020F0704030504030204" pitchFamily="34" charset="0"/>
              </a:rPr>
              <a:t>2d </a:t>
            </a:r>
            <a:r>
              <a:rPr lang="en-US" sz="3600" b="0" dirty="0">
                <a:latin typeface="Arial Rounded MT Bold" panose="020F0704030504030204" pitchFamily="34" charset="0"/>
              </a:rPr>
              <a:t>Dimensions</a:t>
            </a:r>
            <a:endParaRPr lang="en-IN" sz="3600" dirty="0"/>
          </a:p>
        </p:txBody>
      </p:sp>
      <p:sp>
        <p:nvSpPr>
          <p:cNvPr id="3" name="Text Placeholder 2"/>
          <p:cNvSpPr>
            <a:spLocks noGrp="1"/>
          </p:cNvSpPr>
          <p:nvPr>
            <p:ph type="body" idx="1"/>
          </p:nvPr>
        </p:nvSpPr>
        <p:spPr>
          <a:xfrm>
            <a:off x="309062" y="5817814"/>
            <a:ext cx="11882937" cy="430887"/>
          </a:xfrm>
        </p:spPr>
        <p:txBody>
          <a:bodyPr/>
          <a:lstStyle/>
          <a:p>
            <a:r>
              <a:rPr lang="en-US" sz="2800" dirty="0"/>
              <a:t> Lower control arm   </a:t>
            </a:r>
            <a:r>
              <a:rPr lang="en-US" dirty="0"/>
              <a:t>                                                                                                                                      7                      </a:t>
            </a:r>
            <a:endParaRPr lang="en-IN" dirty="0"/>
          </a:p>
        </p:txBody>
      </p:sp>
      <p:pic>
        <p:nvPicPr>
          <p:cNvPr id="4" name="Picture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09063" y="1131994"/>
            <a:ext cx="6505848" cy="4594011"/>
          </a:xfrm>
          <a:prstGeom prst="rect">
            <a:avLst/>
          </a:prstGeom>
        </p:spPr>
      </p:pic>
      <p:pic>
        <p:nvPicPr>
          <p:cNvPr id="5" name="Picture 4"/>
          <p:cNvPicPr>
            <a:picLocks noChangeAspect="1"/>
          </p:cNvPicPr>
          <p:nvPr/>
        </p:nvPicPr>
        <p:blipFill>
          <a:blip r:embed="rId2"/>
          <a:stretch>
            <a:fillRect/>
          </a:stretch>
        </p:blipFill>
        <p:spPr>
          <a:xfrm>
            <a:off x="6814911" y="1447100"/>
            <a:ext cx="4594118" cy="363777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32689" y="54402"/>
            <a:ext cx="7246481" cy="553998"/>
          </a:xfrm>
        </p:spPr>
        <p:txBody>
          <a:bodyPr/>
          <a:lstStyle/>
          <a:p>
            <a:r>
              <a:rPr lang="en-US" sz="3600" dirty="0">
                <a:latin typeface="Arial Rounded MT Bold" panose="020F0704030504030204" pitchFamily="34" charset="0"/>
              </a:rPr>
              <a:t>2d </a:t>
            </a:r>
            <a:r>
              <a:rPr lang="en-US" sz="3600" b="0" dirty="0">
                <a:latin typeface="Arial Rounded MT Bold" panose="020F0704030504030204" pitchFamily="34" charset="0"/>
              </a:rPr>
              <a:t>Dimensions</a:t>
            </a:r>
            <a:endParaRPr lang="en-IN" sz="3600" dirty="0"/>
          </a:p>
        </p:txBody>
      </p:sp>
      <p:sp>
        <p:nvSpPr>
          <p:cNvPr id="3" name="Text Placeholder 2"/>
          <p:cNvSpPr>
            <a:spLocks noGrp="1"/>
          </p:cNvSpPr>
          <p:nvPr>
            <p:ph type="body" idx="1"/>
          </p:nvPr>
        </p:nvSpPr>
        <p:spPr>
          <a:xfrm>
            <a:off x="349907" y="5801059"/>
            <a:ext cx="11864791" cy="430887"/>
          </a:xfrm>
        </p:spPr>
        <p:txBody>
          <a:bodyPr/>
          <a:lstStyle/>
          <a:p>
            <a:r>
              <a:rPr lang="en-US" sz="2800" dirty="0"/>
              <a:t>Upper control arm</a:t>
            </a:r>
            <a:r>
              <a:rPr lang="en-US" dirty="0"/>
              <a:t>                                                                                                    			           8            </a:t>
            </a:r>
            <a:endParaRPr lang="en-IN" dirty="0"/>
          </a:p>
        </p:txBody>
      </p:sp>
      <p:pic>
        <p:nvPicPr>
          <p:cNvPr id="4" name="Picture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26689" y="1048315"/>
            <a:ext cx="6650043" cy="4699364"/>
          </a:xfrm>
          <a:prstGeom prst="rect">
            <a:avLst/>
          </a:prstGeom>
        </p:spPr>
      </p:pic>
      <p:pic>
        <p:nvPicPr>
          <p:cNvPr id="5" name="Picture 4"/>
          <p:cNvPicPr>
            <a:picLocks noChangeAspect="1"/>
          </p:cNvPicPr>
          <p:nvPr/>
        </p:nvPicPr>
        <p:blipFill>
          <a:blip r:embed="rId2"/>
          <a:stretch>
            <a:fillRect/>
          </a:stretch>
        </p:blipFill>
        <p:spPr>
          <a:xfrm>
            <a:off x="6770707" y="1419330"/>
            <a:ext cx="4954530" cy="400208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1366" y="132223"/>
            <a:ext cx="7216987" cy="553998"/>
          </a:xfrm>
        </p:spPr>
        <p:txBody>
          <a:bodyPr/>
          <a:lstStyle/>
          <a:p>
            <a:r>
              <a:rPr lang="en-US" sz="3600" dirty="0">
                <a:latin typeface="Arial Rounded MT Bold" panose="020F0704030504030204" pitchFamily="34" charset="0"/>
              </a:rPr>
              <a:t>2d </a:t>
            </a:r>
            <a:r>
              <a:rPr lang="en-US" sz="3600" b="0" dirty="0">
                <a:latin typeface="Arial Rounded MT Bold" panose="020F0704030504030204" pitchFamily="34" charset="0"/>
              </a:rPr>
              <a:t>Dimensions</a:t>
            </a:r>
            <a:endParaRPr lang="en-IN" sz="3600" dirty="0"/>
          </a:p>
        </p:txBody>
      </p:sp>
      <p:sp>
        <p:nvSpPr>
          <p:cNvPr id="3" name="Text Placeholder 2"/>
          <p:cNvSpPr>
            <a:spLocks noGrp="1"/>
          </p:cNvSpPr>
          <p:nvPr>
            <p:ph type="body" idx="1"/>
          </p:nvPr>
        </p:nvSpPr>
        <p:spPr>
          <a:xfrm>
            <a:off x="294783" y="5864001"/>
            <a:ext cx="12013948" cy="430887"/>
          </a:xfrm>
        </p:spPr>
        <p:txBody>
          <a:bodyPr/>
          <a:lstStyle/>
          <a:p>
            <a:r>
              <a:rPr lang="en-US" sz="2800" dirty="0"/>
              <a:t>Steering knuckle                                                                                   		  </a:t>
            </a:r>
            <a:r>
              <a:rPr lang="en-US" dirty="0"/>
              <a:t>        9</a:t>
            </a:r>
            <a:endParaRPr lang="en-IN" dirty="0"/>
          </a:p>
        </p:txBody>
      </p:sp>
      <p:pic>
        <p:nvPicPr>
          <p:cNvPr id="4" name="Picture 3"/>
          <p:cNvPicPr>
            <a:picLocks noChangeAspect="1"/>
          </p:cNvPicPr>
          <p:nvPr/>
        </p:nvPicPr>
        <p:blipFill>
          <a:blip r:embed="rId1"/>
          <a:stretch>
            <a:fillRect/>
          </a:stretch>
        </p:blipFill>
        <p:spPr>
          <a:xfrm>
            <a:off x="294783" y="1069379"/>
            <a:ext cx="6713772" cy="4719241"/>
          </a:xfrm>
          <a:prstGeom prst="rect">
            <a:avLst/>
          </a:prstGeom>
        </p:spPr>
      </p:pic>
      <p:pic>
        <p:nvPicPr>
          <p:cNvPr id="5" name="Picture 4"/>
          <p:cNvPicPr>
            <a:picLocks noChangeAspect="1"/>
          </p:cNvPicPr>
          <p:nvPr/>
        </p:nvPicPr>
        <p:blipFill>
          <a:blip r:embed="rId2"/>
          <a:stretch>
            <a:fillRect/>
          </a:stretch>
        </p:blipFill>
        <p:spPr>
          <a:xfrm>
            <a:off x="7386973" y="1533440"/>
            <a:ext cx="4231091" cy="325785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5387" y="219908"/>
            <a:ext cx="7216987" cy="553998"/>
          </a:xfrm>
        </p:spPr>
        <p:txBody>
          <a:bodyPr/>
          <a:lstStyle/>
          <a:p>
            <a:r>
              <a:rPr lang="en-US" sz="3600" dirty="0">
                <a:latin typeface="Arial Rounded MT Bold" panose="020F0704030504030204" pitchFamily="34" charset="0"/>
              </a:rPr>
              <a:t>3D Design</a:t>
            </a:r>
            <a:endParaRPr lang="en-IN" sz="3600" dirty="0">
              <a:latin typeface="Arial Rounded MT Bold" panose="020F0704030504030204" pitchFamily="34" charset="0"/>
            </a:endParaRPr>
          </a:p>
        </p:txBody>
      </p:sp>
      <p:sp>
        <p:nvSpPr>
          <p:cNvPr id="3" name="Text Placeholder 2"/>
          <p:cNvSpPr>
            <a:spLocks noGrp="1"/>
          </p:cNvSpPr>
          <p:nvPr>
            <p:ph type="body" idx="1"/>
          </p:nvPr>
        </p:nvSpPr>
        <p:spPr>
          <a:xfrm>
            <a:off x="576390" y="3185466"/>
            <a:ext cx="11544274" cy="3385542"/>
          </a:xfrm>
        </p:spPr>
        <p:txBody>
          <a:bodyPr/>
          <a:lstStyle/>
          <a:p>
            <a:pPr algn="just"/>
            <a:r>
              <a:rPr lang="en-US" dirty="0"/>
              <a:t>         O Ring                           Spring              </a:t>
            </a:r>
            <a:r>
              <a:rPr lang="en-IN" kern="100" dirty="0">
                <a:effectLst/>
                <a:latin typeface="Times New Roman" panose="02020603050405020304" pitchFamily="18" charset="0"/>
                <a:ea typeface="Aptos"/>
                <a:cs typeface="Times New Roman" panose="02020603050405020304" pitchFamily="18" charset="0"/>
              </a:rPr>
              <a:t>wheel hub design    </a:t>
            </a:r>
            <a:r>
              <a:rPr lang="en-IN" dirty="0">
                <a:effectLst/>
                <a:latin typeface="Times New Roman" panose="02020603050405020304" pitchFamily="18" charset="0"/>
                <a:ea typeface="Aptos"/>
              </a:rPr>
              <a:t>Shock </a:t>
            </a:r>
            <a:r>
              <a:rPr lang="en-IN" dirty="0" err="1">
                <a:effectLst/>
                <a:latin typeface="Times New Roman" panose="02020603050405020304" pitchFamily="18" charset="0"/>
                <a:ea typeface="Aptos"/>
              </a:rPr>
              <a:t>Cartiage</a:t>
            </a:r>
            <a:r>
              <a:rPr lang="en-IN" dirty="0">
                <a:effectLst/>
                <a:latin typeface="Times New Roman" panose="02020603050405020304" pitchFamily="18" charset="0"/>
                <a:ea typeface="Aptos"/>
              </a:rPr>
              <a:t> Cover        Spacer</a:t>
            </a:r>
            <a:endParaRPr lang="en-IN" dirty="0">
              <a:effectLst/>
              <a:latin typeface="Times New Roman" panose="02020603050405020304" pitchFamily="18" charset="0"/>
              <a:ea typeface="Aptos"/>
            </a:endParaRPr>
          </a:p>
          <a:p>
            <a:pPr algn="just"/>
            <a:endParaRPr lang="en-IN" kern="100" dirty="0">
              <a:latin typeface="Times New Roman" panose="02020603050405020304" pitchFamily="18" charset="0"/>
              <a:ea typeface="Aptos"/>
              <a:cs typeface="Times New Roman" panose="02020603050405020304" pitchFamily="18" charset="0"/>
            </a:endParaRPr>
          </a:p>
          <a:p>
            <a:pPr algn="just"/>
            <a:endParaRPr lang="en-IN" kern="100" dirty="0">
              <a:effectLst/>
              <a:latin typeface="Times New Roman" panose="02020603050405020304" pitchFamily="18" charset="0"/>
              <a:ea typeface="Aptos"/>
              <a:cs typeface="Times New Roman" panose="02020603050405020304" pitchFamily="18" charset="0"/>
            </a:endParaRPr>
          </a:p>
          <a:p>
            <a:pPr algn="just"/>
            <a:endParaRPr lang="en-IN" kern="100" dirty="0">
              <a:latin typeface="Times New Roman" panose="02020603050405020304" pitchFamily="18" charset="0"/>
              <a:ea typeface="Aptos"/>
              <a:cs typeface="Times New Roman" panose="02020603050405020304" pitchFamily="18" charset="0"/>
            </a:endParaRPr>
          </a:p>
          <a:p>
            <a:pPr algn="just"/>
            <a:endParaRPr lang="en-IN" kern="100" dirty="0">
              <a:effectLst/>
              <a:latin typeface="Times New Roman" panose="02020603050405020304" pitchFamily="18" charset="0"/>
              <a:ea typeface="Aptos"/>
              <a:cs typeface="Times New Roman" panose="02020603050405020304" pitchFamily="18" charset="0"/>
            </a:endParaRPr>
          </a:p>
          <a:p>
            <a:pPr algn="just"/>
            <a:endParaRPr lang="en-IN" kern="100" dirty="0">
              <a:latin typeface="Times New Roman" panose="02020603050405020304" pitchFamily="18" charset="0"/>
              <a:ea typeface="Aptos"/>
              <a:cs typeface="Times New Roman" panose="02020603050405020304" pitchFamily="18" charset="0"/>
            </a:endParaRPr>
          </a:p>
          <a:p>
            <a:pPr algn="just"/>
            <a:endParaRPr lang="en-IN" kern="100" dirty="0">
              <a:effectLst/>
              <a:latin typeface="Times New Roman" panose="02020603050405020304" pitchFamily="18" charset="0"/>
              <a:ea typeface="Aptos"/>
              <a:cs typeface="Times New Roman" panose="02020603050405020304" pitchFamily="18" charset="0"/>
            </a:endParaRPr>
          </a:p>
          <a:p>
            <a:pPr algn="just"/>
            <a:endParaRPr lang="en-IN" kern="100" dirty="0">
              <a:latin typeface="Times New Roman" panose="02020603050405020304" pitchFamily="18" charset="0"/>
              <a:ea typeface="Aptos"/>
              <a:cs typeface="Times New Roman" panose="02020603050405020304" pitchFamily="18" charset="0"/>
            </a:endParaRPr>
          </a:p>
          <a:p>
            <a:pPr algn="just"/>
            <a:r>
              <a:rPr lang="en-IN" kern="100" dirty="0">
                <a:latin typeface="Times New Roman" panose="02020603050405020304" pitchFamily="18" charset="0"/>
                <a:ea typeface="Aptos"/>
                <a:cs typeface="Times New Roman" panose="02020603050405020304" pitchFamily="18" charset="0"/>
              </a:rPr>
              <a:t>             </a:t>
            </a:r>
            <a:r>
              <a:rPr lang="en-US" kern="100" dirty="0">
                <a:latin typeface="Times New Roman" panose="02020603050405020304" pitchFamily="18" charset="0"/>
                <a:ea typeface="Aptos"/>
                <a:cs typeface="Times New Roman" panose="02020603050405020304" pitchFamily="18" charset="0"/>
              </a:rPr>
              <a:t>Shaft                      </a:t>
            </a:r>
            <a:r>
              <a:rPr lang="en-IN" kern="100" dirty="0">
                <a:latin typeface="Times New Roman" panose="02020603050405020304" pitchFamily="18" charset="0"/>
                <a:ea typeface="Aptos"/>
                <a:cs typeface="Times New Roman" panose="02020603050405020304" pitchFamily="18" charset="0"/>
              </a:rPr>
              <a:t>W</a:t>
            </a:r>
            <a:r>
              <a:rPr lang="en-IN" dirty="0">
                <a:effectLst/>
                <a:latin typeface="Times New Roman" panose="02020603050405020304" pitchFamily="18" charset="0"/>
                <a:ea typeface="Aptos"/>
              </a:rPr>
              <a:t>heel Hub </a:t>
            </a:r>
            <a:r>
              <a:rPr lang="en-IN" dirty="0" err="1">
                <a:effectLst/>
                <a:latin typeface="Times New Roman" panose="02020603050405020304" pitchFamily="18" charset="0"/>
                <a:ea typeface="Aptos"/>
              </a:rPr>
              <a:t>Bearin</a:t>
            </a:r>
            <a:r>
              <a:rPr lang="en-IN" dirty="0">
                <a:effectLst/>
                <a:latin typeface="Times New Roman" panose="02020603050405020304" pitchFamily="18" charset="0"/>
                <a:ea typeface="Aptos"/>
              </a:rPr>
              <a:t>       Wheel Hub          Shock Carriage             Shock Body</a:t>
            </a:r>
            <a:endParaRPr lang="en-IN" dirty="0">
              <a:effectLst/>
              <a:latin typeface="Times New Roman" panose="02020603050405020304" pitchFamily="18" charset="0"/>
              <a:ea typeface="Aptos"/>
            </a:endParaRPr>
          </a:p>
          <a:p>
            <a:pPr algn="just"/>
            <a:r>
              <a:rPr lang="en-IN" kern="100" dirty="0">
                <a:latin typeface="Times New Roman" panose="02020603050405020304" pitchFamily="18" charset="0"/>
                <a:ea typeface="Aptos"/>
                <a:cs typeface="Times New Roman" panose="02020603050405020304" pitchFamily="18" charset="0"/>
              </a:rPr>
              <a:t>												    10</a:t>
            </a:r>
            <a:endParaRPr lang="en-IN" kern="100" dirty="0">
              <a:effectLst/>
              <a:latin typeface="Aptos"/>
              <a:ea typeface="Aptos"/>
              <a:cs typeface="Times New Roman" panose="02020603050405020304" pitchFamily="18" charset="0"/>
            </a:endParaRPr>
          </a:p>
          <a:p>
            <a:endParaRPr lang="en-IN" dirty="0"/>
          </a:p>
        </p:txBody>
      </p:sp>
      <p:pic>
        <p:nvPicPr>
          <p:cNvPr id="11" name="Picture 10"/>
          <p:cNvPicPr/>
          <p:nvPr/>
        </p:nvPicPr>
        <p:blipFill>
          <a:blip r:embed="rId1"/>
          <a:stretch>
            <a:fillRect/>
          </a:stretch>
        </p:blipFill>
        <p:spPr>
          <a:xfrm>
            <a:off x="576390" y="1425246"/>
            <a:ext cx="2098715" cy="1609783"/>
          </a:xfrm>
          <a:prstGeom prst="rect">
            <a:avLst/>
          </a:prstGeom>
        </p:spPr>
      </p:pic>
      <p:pic>
        <p:nvPicPr>
          <p:cNvPr id="12" name="Picture 11"/>
          <p:cNvPicPr/>
          <p:nvPr/>
        </p:nvPicPr>
        <p:blipFill>
          <a:blip r:embed="rId2"/>
          <a:stretch>
            <a:fillRect/>
          </a:stretch>
        </p:blipFill>
        <p:spPr>
          <a:xfrm>
            <a:off x="3311858" y="1425246"/>
            <a:ext cx="1165225" cy="1696085"/>
          </a:xfrm>
          <a:prstGeom prst="rect">
            <a:avLst/>
          </a:prstGeom>
        </p:spPr>
      </p:pic>
      <p:pic>
        <p:nvPicPr>
          <p:cNvPr id="13" name="Picture 12"/>
          <p:cNvPicPr/>
          <p:nvPr/>
        </p:nvPicPr>
        <p:blipFill>
          <a:blip r:embed="rId3"/>
          <a:stretch>
            <a:fillRect/>
          </a:stretch>
        </p:blipFill>
        <p:spPr>
          <a:xfrm>
            <a:off x="5113837" y="1530905"/>
            <a:ext cx="1588521" cy="1504124"/>
          </a:xfrm>
          <a:prstGeom prst="rect">
            <a:avLst/>
          </a:prstGeom>
        </p:spPr>
      </p:pic>
      <p:pic>
        <p:nvPicPr>
          <p:cNvPr id="14" name="Picture 13"/>
          <p:cNvPicPr/>
          <p:nvPr/>
        </p:nvPicPr>
        <p:blipFill>
          <a:blip r:embed="rId4"/>
          <a:stretch>
            <a:fillRect/>
          </a:stretch>
        </p:blipFill>
        <p:spPr>
          <a:xfrm>
            <a:off x="7089289" y="1425246"/>
            <a:ext cx="1807210" cy="1760220"/>
          </a:xfrm>
          <a:prstGeom prst="rect">
            <a:avLst/>
          </a:prstGeom>
        </p:spPr>
      </p:pic>
      <p:pic>
        <p:nvPicPr>
          <p:cNvPr id="15" name="Picture 14"/>
          <p:cNvPicPr/>
          <p:nvPr/>
        </p:nvPicPr>
        <p:blipFill>
          <a:blip r:embed="rId5"/>
          <a:stretch>
            <a:fillRect/>
          </a:stretch>
        </p:blipFill>
        <p:spPr>
          <a:xfrm>
            <a:off x="9280070" y="1402857"/>
            <a:ext cx="2046605" cy="1760220"/>
          </a:xfrm>
          <a:prstGeom prst="rect">
            <a:avLst/>
          </a:prstGeom>
        </p:spPr>
      </p:pic>
      <p:pic>
        <p:nvPicPr>
          <p:cNvPr id="16" name="Picture 15"/>
          <p:cNvPicPr/>
          <p:nvPr/>
        </p:nvPicPr>
        <p:blipFill>
          <a:blip r:embed="rId6"/>
          <a:stretch>
            <a:fillRect/>
          </a:stretch>
        </p:blipFill>
        <p:spPr>
          <a:xfrm flipV="1">
            <a:off x="715157" y="4649010"/>
            <a:ext cx="1821180" cy="381000"/>
          </a:xfrm>
          <a:prstGeom prst="rect">
            <a:avLst/>
          </a:prstGeom>
        </p:spPr>
      </p:pic>
      <p:pic>
        <p:nvPicPr>
          <p:cNvPr id="17" name="Picture 16"/>
          <p:cNvPicPr/>
          <p:nvPr/>
        </p:nvPicPr>
        <p:blipFill>
          <a:blip r:embed="rId7"/>
          <a:stretch>
            <a:fillRect/>
          </a:stretch>
        </p:blipFill>
        <p:spPr>
          <a:xfrm>
            <a:off x="3101990" y="3691430"/>
            <a:ext cx="1584960" cy="1915160"/>
          </a:xfrm>
          <a:prstGeom prst="rect">
            <a:avLst/>
          </a:prstGeom>
        </p:spPr>
      </p:pic>
      <p:pic>
        <p:nvPicPr>
          <p:cNvPr id="18" name="Picture 17"/>
          <p:cNvPicPr/>
          <p:nvPr/>
        </p:nvPicPr>
        <p:blipFill>
          <a:blip r:embed="rId8"/>
          <a:stretch>
            <a:fillRect/>
          </a:stretch>
        </p:blipFill>
        <p:spPr>
          <a:xfrm>
            <a:off x="5113837" y="3662125"/>
            <a:ext cx="1691640" cy="1664970"/>
          </a:xfrm>
          <a:prstGeom prst="rect">
            <a:avLst/>
          </a:prstGeom>
        </p:spPr>
      </p:pic>
      <p:pic>
        <p:nvPicPr>
          <p:cNvPr id="19" name="Picture 18"/>
          <p:cNvPicPr/>
          <p:nvPr/>
        </p:nvPicPr>
        <p:blipFill>
          <a:blip r:embed="rId9"/>
          <a:stretch>
            <a:fillRect/>
          </a:stretch>
        </p:blipFill>
        <p:spPr>
          <a:xfrm flipH="1">
            <a:off x="7089289" y="3703013"/>
            <a:ext cx="1860550" cy="1729740"/>
          </a:xfrm>
          <a:prstGeom prst="rect">
            <a:avLst/>
          </a:prstGeom>
        </p:spPr>
      </p:pic>
      <p:pic>
        <p:nvPicPr>
          <p:cNvPr id="20" name="Picture 19"/>
          <p:cNvPicPr/>
          <p:nvPr/>
        </p:nvPicPr>
        <p:blipFill>
          <a:blip r:embed="rId10"/>
          <a:stretch>
            <a:fillRect/>
          </a:stretch>
        </p:blipFill>
        <p:spPr>
          <a:xfrm>
            <a:off x="10030185" y="3898704"/>
            <a:ext cx="546374" cy="150061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7716" y="246229"/>
            <a:ext cx="7216987" cy="553998"/>
          </a:xfrm>
        </p:spPr>
        <p:txBody>
          <a:bodyPr/>
          <a:lstStyle/>
          <a:p>
            <a:r>
              <a:rPr lang="en-US" sz="3600" dirty="0">
                <a:latin typeface="Arial Rounded MT Bold" panose="020F0704030504030204" pitchFamily="34" charset="0"/>
              </a:rPr>
              <a:t>3D Design</a:t>
            </a:r>
            <a:endParaRPr lang="en-IN" sz="3600" dirty="0">
              <a:latin typeface="Arial Rounded MT Bold" panose="020F0704030504030204" pitchFamily="34" charset="0"/>
            </a:endParaRPr>
          </a:p>
        </p:txBody>
      </p:sp>
      <p:sp>
        <p:nvSpPr>
          <p:cNvPr id="3" name="Text Placeholder 2"/>
          <p:cNvSpPr>
            <a:spLocks noGrp="1"/>
          </p:cNvSpPr>
          <p:nvPr>
            <p:ph type="body" idx="1"/>
          </p:nvPr>
        </p:nvSpPr>
        <p:spPr>
          <a:xfrm>
            <a:off x="555036" y="3263563"/>
            <a:ext cx="11636964" cy="3077766"/>
          </a:xfrm>
        </p:spPr>
        <p:txBody>
          <a:bodyPr/>
          <a:lstStyle/>
          <a:p>
            <a:r>
              <a:rPr lang="en-US" dirty="0"/>
              <a:t>Shaft                     Connecting Shaft               U End                           Brake Drum                        E Clip</a:t>
            </a:r>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  Adjusting Nut           Piston                       Spring Cup                      					</a:t>
            </a:r>
            <a:endParaRPr lang="en-US" dirty="0"/>
          </a:p>
          <a:p>
            <a:r>
              <a:rPr lang="en-US" dirty="0"/>
              <a:t>                          											     11</a:t>
            </a:r>
            <a:endParaRPr lang="en-US" dirty="0"/>
          </a:p>
        </p:txBody>
      </p:sp>
      <p:pic>
        <p:nvPicPr>
          <p:cNvPr id="4" name="Picture 3"/>
          <p:cNvPicPr/>
          <p:nvPr/>
        </p:nvPicPr>
        <p:blipFill>
          <a:blip r:embed="rId1"/>
          <a:stretch>
            <a:fillRect/>
          </a:stretch>
        </p:blipFill>
        <p:spPr>
          <a:xfrm flipH="1">
            <a:off x="555036" y="1345930"/>
            <a:ext cx="904112" cy="1737738"/>
          </a:xfrm>
          <a:prstGeom prst="rect">
            <a:avLst/>
          </a:prstGeom>
        </p:spPr>
      </p:pic>
      <p:pic>
        <p:nvPicPr>
          <p:cNvPr id="5" name="Picture 4"/>
          <p:cNvPicPr/>
          <p:nvPr/>
        </p:nvPicPr>
        <p:blipFill>
          <a:blip r:embed="rId2"/>
          <a:stretch>
            <a:fillRect/>
          </a:stretch>
        </p:blipFill>
        <p:spPr>
          <a:xfrm>
            <a:off x="2195287" y="2046215"/>
            <a:ext cx="1774176" cy="1003551"/>
          </a:xfrm>
          <a:prstGeom prst="rect">
            <a:avLst/>
          </a:prstGeom>
        </p:spPr>
      </p:pic>
      <p:pic>
        <p:nvPicPr>
          <p:cNvPr id="6" name="Picture 5"/>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96658" y="1434143"/>
            <a:ext cx="2011680" cy="1649525"/>
          </a:xfrm>
          <a:prstGeom prst="rect">
            <a:avLst/>
          </a:prstGeom>
          <a:noFill/>
          <a:ln>
            <a:noFill/>
          </a:ln>
        </p:spPr>
      </p:pic>
      <p:pic>
        <p:nvPicPr>
          <p:cNvPr id="7" name="Picture 6"/>
          <p:cNvPicPr/>
          <p:nvPr/>
        </p:nvPicPr>
        <p:blipFill>
          <a:blip r:embed="rId4"/>
          <a:stretch>
            <a:fillRect/>
          </a:stretch>
        </p:blipFill>
        <p:spPr>
          <a:xfrm>
            <a:off x="7069289" y="1089497"/>
            <a:ext cx="2011680" cy="2025737"/>
          </a:xfrm>
          <a:prstGeom prst="rect">
            <a:avLst/>
          </a:prstGeom>
        </p:spPr>
      </p:pic>
      <p:pic>
        <p:nvPicPr>
          <p:cNvPr id="8" name="Picture 7"/>
          <p:cNvPicPr/>
          <p:nvPr/>
        </p:nvPicPr>
        <p:blipFill>
          <a:blip r:embed="rId5"/>
          <a:stretch>
            <a:fillRect/>
          </a:stretch>
        </p:blipFill>
        <p:spPr>
          <a:xfrm>
            <a:off x="9808164" y="1200646"/>
            <a:ext cx="1828800" cy="1849120"/>
          </a:xfrm>
          <a:prstGeom prst="rect">
            <a:avLst/>
          </a:prstGeom>
        </p:spPr>
      </p:pic>
      <p:pic>
        <p:nvPicPr>
          <p:cNvPr id="9" name="Picture 8"/>
          <p:cNvPicPr/>
          <p:nvPr/>
        </p:nvPicPr>
        <p:blipFill>
          <a:blip r:embed="rId6"/>
          <a:stretch>
            <a:fillRect/>
          </a:stretch>
        </p:blipFill>
        <p:spPr>
          <a:xfrm>
            <a:off x="555036" y="4023626"/>
            <a:ext cx="1585360" cy="1497944"/>
          </a:xfrm>
          <a:prstGeom prst="rect">
            <a:avLst/>
          </a:prstGeom>
        </p:spPr>
      </p:pic>
      <p:pic>
        <p:nvPicPr>
          <p:cNvPr id="10" name="Picture 9"/>
          <p:cNvPicPr/>
          <p:nvPr/>
        </p:nvPicPr>
        <p:blipFill>
          <a:blip r:embed="rId7"/>
          <a:stretch>
            <a:fillRect/>
          </a:stretch>
        </p:blipFill>
        <p:spPr>
          <a:xfrm>
            <a:off x="2483875" y="3959129"/>
            <a:ext cx="1585359" cy="1497943"/>
          </a:xfrm>
          <a:prstGeom prst="rect">
            <a:avLst/>
          </a:prstGeom>
        </p:spPr>
      </p:pic>
      <p:pic>
        <p:nvPicPr>
          <p:cNvPr id="11" name="Picture 10"/>
          <p:cNvPicPr/>
          <p:nvPr/>
        </p:nvPicPr>
        <p:blipFill>
          <a:blip r:embed="rId8"/>
          <a:stretch>
            <a:fillRect/>
          </a:stretch>
        </p:blipFill>
        <p:spPr>
          <a:xfrm flipV="1">
            <a:off x="4696658" y="3872044"/>
            <a:ext cx="1585358" cy="164952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18942" y="199438"/>
            <a:ext cx="7216987" cy="553998"/>
          </a:xfrm>
        </p:spPr>
        <p:txBody>
          <a:bodyPr/>
          <a:lstStyle/>
          <a:p>
            <a:r>
              <a:rPr lang="en-US" sz="3600" dirty="0">
                <a:latin typeface="Arial Rounded MT Bold" panose="020F0704030504030204" pitchFamily="34" charset="0"/>
              </a:rPr>
              <a:t>3D Design</a:t>
            </a:r>
            <a:endParaRPr lang="en-IN" sz="3600" dirty="0">
              <a:latin typeface="Arial Rounded MT Bold" panose="020F0704030504030204" pitchFamily="34" charset="0"/>
            </a:endParaRPr>
          </a:p>
        </p:txBody>
      </p:sp>
      <p:sp>
        <p:nvSpPr>
          <p:cNvPr id="3" name="Text Placeholder 2"/>
          <p:cNvSpPr>
            <a:spLocks noGrp="1"/>
          </p:cNvSpPr>
          <p:nvPr>
            <p:ph type="body" idx="1"/>
          </p:nvPr>
        </p:nvSpPr>
        <p:spPr>
          <a:xfrm>
            <a:off x="764400" y="5262400"/>
            <a:ext cx="11259820" cy="923330"/>
          </a:xfrm>
        </p:spPr>
        <p:txBody>
          <a:bodyPr/>
          <a:lstStyle/>
          <a:p>
            <a:r>
              <a:rPr lang="en-US" dirty="0"/>
              <a:t>                  Shock Absorber                                                                The Suspension System</a:t>
            </a:r>
            <a:endParaRPr lang="en-US" dirty="0"/>
          </a:p>
          <a:p>
            <a:endParaRPr lang="en-US" dirty="0"/>
          </a:p>
          <a:p>
            <a:r>
              <a:rPr lang="en-IN" dirty="0"/>
              <a:t>												12</a:t>
            </a:r>
            <a:endParaRPr lang="en-US" dirty="0"/>
          </a:p>
        </p:txBody>
      </p:sp>
      <p:pic>
        <p:nvPicPr>
          <p:cNvPr id="4" name="Picture 3"/>
          <p:cNvPicPr/>
          <p:nvPr/>
        </p:nvPicPr>
        <p:blipFill rotWithShape="1">
          <a:blip r:embed="rId1" cstate="print">
            <a:extLst>
              <a:ext uri="{28A0092B-C50C-407E-A947-70E740481C1C}">
                <a14:useLocalDpi xmlns:a14="http://schemas.microsoft.com/office/drawing/2010/main" val="0"/>
              </a:ext>
            </a:extLst>
          </a:blip>
          <a:srcRect l="23488" t="11510" r="5052"/>
          <a:stretch>
            <a:fillRect/>
          </a:stretch>
        </p:blipFill>
        <p:spPr bwMode="auto">
          <a:xfrm>
            <a:off x="994532" y="1937047"/>
            <a:ext cx="4095750" cy="2782570"/>
          </a:xfrm>
          <a:prstGeom prst="rect">
            <a:avLst/>
          </a:prstGeom>
          <a:noFill/>
          <a:ln>
            <a:noFill/>
          </a:ln>
        </p:spPr>
      </p:pic>
      <p:pic>
        <p:nvPicPr>
          <p:cNvPr id="5" name="Picture 4"/>
          <p:cNvPicPr/>
          <p:nvPr/>
        </p:nvPicPr>
        <p:blipFill rotWithShape="1">
          <a:blip r:embed="rId2"/>
          <a:srcRect l="26590" t="9787" r="6935" b="6725"/>
          <a:stretch>
            <a:fillRect/>
          </a:stretch>
        </p:blipFill>
        <p:spPr bwMode="auto">
          <a:xfrm>
            <a:off x="6017185" y="1696268"/>
            <a:ext cx="4924337" cy="3465464"/>
          </a:xfrm>
          <a:prstGeom prst="rect">
            <a:avLst/>
          </a:prstGeom>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6998" y="264127"/>
            <a:ext cx="7216987" cy="553998"/>
          </a:xfrm>
        </p:spPr>
        <p:txBody>
          <a:bodyPr/>
          <a:lstStyle/>
          <a:p>
            <a:r>
              <a:rPr lang="en-US" sz="3600" dirty="0">
                <a:latin typeface="Arial Rounded MT Bold" panose="020F0704030504030204" pitchFamily="34" charset="0"/>
              </a:rPr>
              <a:t>3D design</a:t>
            </a:r>
            <a:endParaRPr lang="en-IN" sz="3600" dirty="0">
              <a:latin typeface="Arial Rounded MT Bold" panose="020F0704030504030204" pitchFamily="34" charset="0"/>
            </a:endParaRPr>
          </a:p>
        </p:txBody>
      </p:sp>
      <p:sp>
        <p:nvSpPr>
          <p:cNvPr id="3" name="Text Placeholder 2"/>
          <p:cNvSpPr>
            <a:spLocks noGrp="1"/>
          </p:cNvSpPr>
          <p:nvPr>
            <p:ph type="body" idx="1"/>
          </p:nvPr>
        </p:nvSpPr>
        <p:spPr>
          <a:xfrm>
            <a:off x="324591" y="1005799"/>
            <a:ext cx="11741574" cy="6340197"/>
          </a:xfrm>
        </p:spPr>
        <p:txBody>
          <a:bodyPr/>
          <a:lstStyle/>
          <a:p>
            <a:pPr marL="342900" indent="-342900">
              <a:buFont typeface="Arial" panose="020B0604020202020204" pitchFamily="34" charset="0"/>
              <a:buChar char="•"/>
            </a:pPr>
            <a:r>
              <a:rPr lang="en-US" sz="2800" dirty="0"/>
              <a:t>Complete double wishbone suspension system was designed using SOLIDWORKS</a:t>
            </a:r>
            <a:endParaRPr lang="en-US" sz="2800" dirty="0"/>
          </a:p>
          <a:p>
            <a:pPr marL="342900" indent="-342900">
              <a:buFont typeface="Arial" panose="020B0604020202020204" pitchFamily="34" charset="0"/>
              <a:buChar char="•"/>
            </a:pPr>
            <a:endParaRPr lang="en-US" sz="2800" dirty="0"/>
          </a:p>
          <a:p>
            <a:pPr marL="457200" indent="-457200">
              <a:buFont typeface="Arial" panose="020B0604020202020204" pitchFamily="34" charset="0"/>
              <a:buChar char="•"/>
            </a:pPr>
            <a:r>
              <a:rPr lang="en-US" sz="2800" dirty="0"/>
              <a:t>The complete assembly was developed to simulate a real automotive suspension system</a:t>
            </a:r>
            <a:endParaRPr lang="en-US" sz="2800" dirty="0"/>
          </a:p>
          <a:p>
            <a:pPr marL="457200" indent="-457200">
              <a:buFont typeface="Arial" panose="020B0604020202020204" pitchFamily="34" charset="0"/>
              <a:buChar char="•"/>
            </a:pPr>
            <a:endParaRPr lang="en-US" sz="2800" dirty="0"/>
          </a:p>
          <a:p>
            <a:pPr marL="342900" indent="-342900">
              <a:buFont typeface="Arial" panose="020B0604020202020204" pitchFamily="34" charset="0"/>
              <a:buChar char="•"/>
            </a:pPr>
            <a:r>
              <a:rPr lang="en-US" sz="2800" dirty="0"/>
              <a:t>Main focus of the project was on:	</a:t>
            </a:r>
            <a:endParaRPr lang="en-US" sz="2800" dirty="0"/>
          </a:p>
          <a:p>
            <a:pPr lvl="1">
              <a:buFont typeface="Arial" panose="020B0604020202020204" pitchFamily="34" charset="0"/>
              <a:buChar char="•"/>
            </a:pPr>
            <a:r>
              <a:rPr lang="en-US" sz="2200" dirty="0"/>
              <a:t>Upper control arm </a:t>
            </a:r>
            <a:endParaRPr lang="en-US" sz="2200" dirty="0"/>
          </a:p>
          <a:p>
            <a:pPr lvl="1">
              <a:buFont typeface="Arial" panose="020B0604020202020204" pitchFamily="34" charset="0"/>
              <a:buChar char="•"/>
            </a:pPr>
            <a:r>
              <a:rPr lang="en-US" sz="2200" dirty="0"/>
              <a:t>Lower control arm </a:t>
            </a:r>
            <a:endParaRPr lang="en-US" sz="2200" dirty="0"/>
          </a:p>
          <a:p>
            <a:pPr lvl="1">
              <a:buFont typeface="Arial" panose="020B0604020202020204" pitchFamily="34" charset="0"/>
              <a:buChar char="•"/>
            </a:pPr>
            <a:r>
              <a:rPr lang="en-US" sz="2200" dirty="0"/>
              <a:t>Spring in the shock absorber</a:t>
            </a:r>
            <a:endParaRPr lang="en-US" sz="2200" dirty="0"/>
          </a:p>
          <a:p>
            <a:pPr lvl="1">
              <a:buFont typeface="Arial" panose="020B0604020202020204" pitchFamily="34" charset="0"/>
              <a:buChar char="•"/>
            </a:pPr>
            <a:endParaRPr lang="en-US" sz="2200" dirty="0"/>
          </a:p>
          <a:p>
            <a:pPr marL="457200" indent="-457200">
              <a:buFont typeface="Arial" panose="020B0604020202020204" pitchFamily="34" charset="0"/>
              <a:buChar char="•"/>
            </a:pPr>
            <a:r>
              <a:rPr lang="en-US" sz="2800" dirty="0"/>
              <a:t>Material optimization was performed by changing the materials of the control arms and spring while keeping other components as Structural Steel               </a:t>
            </a:r>
            <a:r>
              <a:rPr lang="en-US" dirty="0"/>
              <a:t>13</a:t>
            </a:r>
            <a:endParaRPr lang="en-US" dirty="0"/>
          </a:p>
          <a:p>
            <a:r>
              <a:rPr lang="en-US" dirty="0"/>
              <a:t>                                                                                                                   			                    	    </a:t>
            </a:r>
            <a:endParaRPr lang="en-US" dirty="0"/>
          </a:p>
          <a:p>
            <a:pPr marL="457200" indent="-457200">
              <a:buFont typeface="Arial" panose="020B0604020202020204" pitchFamily="34" charset="0"/>
              <a:buChar char="•"/>
            </a:pPr>
            <a:endParaRPr lang="en-US" sz="2800" dirty="0"/>
          </a:p>
          <a:p>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67941" y="148471"/>
            <a:ext cx="7216987" cy="553998"/>
          </a:xfrm>
        </p:spPr>
        <p:txBody>
          <a:bodyPr/>
          <a:lstStyle/>
          <a:p>
            <a:r>
              <a:rPr lang="en-US" sz="3600" dirty="0">
                <a:latin typeface="Arial Rounded MT Bold" panose="020F0704030504030204" pitchFamily="34" charset="0"/>
              </a:rPr>
              <a:t>3D design</a:t>
            </a:r>
            <a:endParaRPr lang="en-IN" sz="3600" dirty="0"/>
          </a:p>
        </p:txBody>
      </p:sp>
      <p:sp>
        <p:nvSpPr>
          <p:cNvPr id="4" name="Rectangle 1"/>
          <p:cNvSpPr>
            <a:spLocks noGrp="1" noChangeArrowheads="1"/>
          </p:cNvSpPr>
          <p:nvPr>
            <p:ph type="body" idx="1"/>
          </p:nvPr>
        </p:nvSpPr>
        <p:spPr bwMode="auto">
          <a:xfrm>
            <a:off x="451035" y="358358"/>
            <a:ext cx="11740965" cy="64325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completed suspension assembly designed in SOLIDWORKS was imported into ANSYS for static structural analysis. </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lang="en-US" sz="2800" dirty="0"/>
              <a:t>The analysis provided:</a:t>
            </a:r>
            <a:endParaRPr lang="en-US" sz="2800" dirty="0"/>
          </a:p>
          <a:p>
            <a:pPr lvl="1" algn="l" rtl="0" eaLnBrk="0" fontAlgn="base" hangingPunct="0">
              <a:spcBef>
                <a:spcPct val="0"/>
              </a:spcBef>
              <a:spcAft>
                <a:spcPct val="0"/>
              </a:spcAft>
              <a:buFontTx/>
              <a:buChar char="•"/>
            </a:pPr>
            <a:r>
              <a:rPr lang="en-US" sz="2200" dirty="0"/>
              <a:t>Total deformation </a:t>
            </a:r>
            <a:endParaRPr lang="en-US" sz="2200" dirty="0"/>
          </a:p>
          <a:p>
            <a:pPr lvl="1">
              <a:buFont typeface="Arial" panose="020B0604020202020204" pitchFamily="34" charset="0"/>
              <a:buChar char="•"/>
            </a:pPr>
            <a:r>
              <a:rPr lang="en-US" sz="2200" dirty="0"/>
              <a:t>Equivalent (Von Mises) stress </a:t>
            </a:r>
            <a:endParaRPr lang="en-US" sz="2200" dirty="0"/>
          </a:p>
          <a:p>
            <a:pPr lvl="1">
              <a:buFont typeface="Arial" panose="020B0604020202020204" pitchFamily="34" charset="0"/>
              <a:buChar char="•"/>
            </a:pPr>
            <a:r>
              <a:rPr lang="en-US" sz="2200" dirty="0"/>
              <a:t>Structural behavior under static loading</a:t>
            </a:r>
            <a:endParaRPr lang="en-US" sz="2200" dirty="0"/>
          </a:p>
          <a:p>
            <a:pPr lvl="1"/>
            <a:endParaRPr lang="en-US" sz="2200" dirty="0"/>
          </a:p>
          <a:p>
            <a:pPr algn="l" rtl="0" eaLnBrk="0" fontAlgn="base" hangingPunct="0">
              <a:spcBef>
                <a:spcPct val="0"/>
              </a:spcBef>
              <a:spcAft>
                <a:spcPct val="0"/>
              </a:spcAft>
              <a:buFontTx/>
              <a:buChar char="•"/>
            </a:pPr>
            <a:r>
              <a:rPr lang="en-US" sz="2800" dirty="0"/>
              <a:t>The complete suspension assembly was also analyzed under total loading conditions.</a:t>
            </a:r>
            <a:endParaRPr lang="en-US" sz="2800" dirty="0"/>
          </a:p>
          <a:p>
            <a:pPr algn="l" rtl="0" eaLnBrk="0" fontAlgn="base" hangingPunct="0">
              <a:spcBef>
                <a:spcPct val="0"/>
              </a:spcBef>
              <a:spcAft>
                <a:spcPct val="0"/>
              </a:spcAft>
              <a:buFontTx/>
              <a:buChar char="•"/>
            </a:pPr>
            <a:endParaRPr lang="en-US" sz="3200" dirty="0"/>
          </a:p>
          <a:p>
            <a:pPr marL="0" marR="0" lvl="0" indent="0" algn="l" defTabSz="914400" rtl="0" eaLnBrk="0" fontAlgn="base" latinLnBrk="0" hangingPunct="0">
              <a:lnSpc>
                <a:spcPct val="100000"/>
              </a:lnSpc>
              <a:spcBef>
                <a:spcPct val="0"/>
              </a:spcBef>
              <a:spcAft>
                <a:spcPct val="0"/>
              </a:spcAft>
              <a:buClrTx/>
              <a:buSzTx/>
              <a:buFontTx/>
              <a:buChar char="•"/>
            </a:pPr>
            <a:r>
              <a:rPr lang="en-US" sz="2800" dirty="0"/>
              <a:t>Meshing was performed to obtain accurate stress and deformation results.</a:t>
            </a:r>
            <a:endParaRPr lang="en-US" sz="2800" dirty="0"/>
          </a:p>
          <a:p>
            <a:pPr marL="0" marR="0" lvl="0" indent="0" algn="l" defTabSz="914400" rtl="0" eaLnBrk="0" fontAlgn="base" latinLnBrk="0" hangingPunct="0">
              <a:lnSpc>
                <a:spcPct val="100000"/>
              </a:lnSpc>
              <a:spcBef>
                <a:spcPct val="0"/>
              </a:spcBef>
              <a:spcAft>
                <a:spcPct val="0"/>
              </a:spcAft>
              <a:buClrTx/>
              <a:buSzTx/>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pPr>
            <a:r>
              <a:rPr lang="en-US" altLang="en-US" dirty="0">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14</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93800" y="-490855"/>
            <a:ext cx="10852785" cy="8820150"/>
          </a:xfrm>
        </p:spPr>
        <p:txBody>
          <a:bodyPr>
            <a:noAutofit/>
          </a:bodyPr>
          <a:lstStyle/>
          <a:p>
            <a:pPr algn="l"/>
            <a:r>
              <a:rPr lang="en-US" sz="2400" b="0" dirty="0">
                <a:latin typeface="pplxSerif"/>
              </a:rPr>
              <a:t>Car Weight=1750 Kg</a:t>
            </a:r>
            <a:br>
              <a:rPr lang="en-US" sz="2400" b="0" dirty="0">
                <a:latin typeface="pplxSerif"/>
              </a:rPr>
            </a:br>
            <a:br>
              <a:rPr lang="en-US" sz="2400" b="0" dirty="0">
                <a:latin typeface="pplxSerif"/>
              </a:rPr>
            </a:br>
            <a:r>
              <a:rPr lang="en-US" sz="2400" b="0" dirty="0">
                <a:latin typeface="pplxSerif"/>
              </a:rPr>
              <a:t>4 person in car(70 kg each)= 280 Kg</a:t>
            </a:r>
            <a:br>
              <a:rPr lang="en-US" sz="2400" b="0" dirty="0">
                <a:latin typeface="pplxSerif"/>
              </a:rPr>
            </a:br>
            <a:br>
              <a:rPr lang="en-US" sz="2400" b="0" dirty="0">
                <a:latin typeface="pplxSerif"/>
              </a:rPr>
            </a:br>
            <a:r>
              <a:rPr lang="en-US" sz="2400" b="0" dirty="0">
                <a:latin typeface="pplxSerif"/>
              </a:rPr>
              <a:t>Total Mass= 2030 Kg</a:t>
            </a:r>
            <a:br>
              <a:rPr lang="en-US" sz="2400" b="0" dirty="0">
                <a:latin typeface="pplxSerif"/>
              </a:rPr>
            </a:br>
            <a:br>
              <a:rPr lang="en-US" sz="2400" b="0" dirty="0">
                <a:latin typeface="pplxSerif"/>
              </a:rPr>
            </a:br>
            <a:r>
              <a:rPr lang="en-US" sz="2400" b="0" dirty="0">
                <a:latin typeface="pplxSerif"/>
              </a:rPr>
              <a:t>Converted in Newton =2030*9.81=19,914 N</a:t>
            </a:r>
            <a:br>
              <a:rPr lang="en-US" sz="2400" b="0" dirty="0">
                <a:latin typeface="pplxSerif"/>
              </a:rPr>
            </a:br>
            <a:br>
              <a:rPr lang="en-US" sz="2400" b="0" dirty="0">
                <a:latin typeface="pplxSerif"/>
              </a:rPr>
            </a:br>
            <a:r>
              <a:rPr lang="en-US" sz="2400" b="0" dirty="0">
                <a:latin typeface="pplxSerif"/>
              </a:rPr>
              <a:t>Wheel Load =Total Load/ no of Wheel=19,914/4=4978.5 N</a:t>
            </a:r>
            <a:br>
              <a:rPr lang="en-US" sz="2400" b="0" dirty="0">
                <a:latin typeface="pplxSerif"/>
              </a:rPr>
            </a:br>
            <a:br>
              <a:rPr lang="en-US" sz="2400" b="0" dirty="0">
                <a:latin typeface="pplxSerif"/>
              </a:rPr>
            </a:br>
            <a:r>
              <a:rPr lang="en-US" sz="2400" b="0" dirty="0">
                <a:latin typeface="pplxSerif"/>
              </a:rPr>
              <a:t>Dynamic Load=Dynamic Load *Wheel Load=1.44*4978.5=7170N</a:t>
            </a:r>
            <a:br>
              <a:rPr lang="en-US" sz="2400" b="0" dirty="0">
                <a:latin typeface="pplxSerif"/>
              </a:rPr>
            </a:br>
            <a:br>
              <a:rPr lang="en-US" sz="2400" b="0" dirty="0">
                <a:latin typeface="pplxSerif"/>
              </a:rPr>
            </a:br>
            <a:r>
              <a:rPr lang="en-US" sz="2400" b="0" dirty="0">
                <a:latin typeface="pplxSerif"/>
              </a:rPr>
              <a:t>Spring Force=motion factor*Wheel Load=0.69*4978.5=3435N  </a:t>
            </a:r>
            <a:br>
              <a:rPr lang="en-US" sz="2400" b="0" dirty="0">
                <a:latin typeface="pplxSerif"/>
              </a:rPr>
            </a:br>
            <a:r>
              <a:rPr lang="en-US" sz="2400" b="0" dirty="0">
                <a:latin typeface="pplxSerif"/>
              </a:rPr>
              <a:t>											     </a:t>
            </a:r>
            <a:br>
              <a:rPr lang="en-US" sz="2400" b="0" dirty="0">
                <a:latin typeface="pplxSerif"/>
              </a:rPr>
            </a:br>
            <a:br>
              <a:rPr lang="en-US" sz="2000" b="0" dirty="0">
                <a:latin typeface="pplxSerif"/>
              </a:rPr>
            </a:br>
            <a:br>
              <a:rPr lang="en-US" sz="2400" b="0" dirty="0">
                <a:latin typeface="pplxSerif"/>
              </a:rPr>
            </a:br>
            <a:br>
              <a:rPr lang="en-US" sz="2400" b="0" dirty="0">
                <a:latin typeface="pplxSerif"/>
              </a:rPr>
            </a:br>
            <a:br>
              <a:rPr lang="en-US" sz="2400" b="0" dirty="0">
                <a:latin typeface="pplxSerif"/>
              </a:rPr>
            </a:br>
            <a:endParaRPr lang="en-IN" sz="2400" b="0" dirty="0">
              <a:latin typeface="pplxSerif"/>
            </a:endParaRPr>
          </a:p>
        </p:txBody>
      </p:sp>
      <p:sp>
        <p:nvSpPr>
          <p:cNvPr id="5" name="TextBox 4"/>
          <p:cNvSpPr txBox="1"/>
          <p:nvPr/>
        </p:nvSpPr>
        <p:spPr>
          <a:xfrm>
            <a:off x="1339442" y="123607"/>
            <a:ext cx="6102990" cy="646331"/>
          </a:xfrm>
          <a:prstGeom prst="rect">
            <a:avLst/>
          </a:prstGeom>
          <a:noFill/>
        </p:spPr>
        <p:txBody>
          <a:bodyPr wrap="square">
            <a:spAutoFit/>
          </a:bodyPr>
          <a:lstStyle/>
          <a:p>
            <a:r>
              <a:rPr lang="en-US" sz="3600" dirty="0">
                <a:latin typeface="Arial Rounded MT Bold" panose="020F0704030504030204" pitchFamily="34" charset="0"/>
              </a:rPr>
              <a:t>Load Calculation</a:t>
            </a:r>
            <a:endParaRPr lang="en-IN" sz="3600" dirty="0">
              <a:latin typeface="Arial Rounded MT Bold" panose="020F070403050403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86560" y="1025158"/>
            <a:ext cx="11705440" cy="6063648"/>
          </a:xfrm>
        </p:spPr>
        <p:txBody>
          <a:bodyPr/>
          <a:lstStyle/>
          <a:p>
            <a:pPr algn="l">
              <a:lnSpc>
                <a:spcPct val="107000"/>
              </a:lnSpc>
              <a:spcAft>
                <a:spcPts val="800"/>
              </a:spcAft>
            </a:pPr>
            <a:r>
              <a:rPr lang="en-US" sz="2400" b="0" dirty="0">
                <a:latin typeface="pplxSerif"/>
              </a:rPr>
              <a:t>Load Remaining For Control Arm:</a:t>
            </a:r>
            <a:br>
              <a:rPr lang="en-US" sz="2400" b="0" dirty="0">
                <a:latin typeface="pplxSerif"/>
              </a:rPr>
            </a:br>
            <a:r>
              <a:rPr lang="en-US" sz="2400" b="0" dirty="0">
                <a:latin typeface="pplxSerif"/>
              </a:rPr>
              <a:t>      Load Arm=Dynamic Load-Spring</a:t>
            </a:r>
            <a:br>
              <a:rPr lang="en-US" sz="2400" b="0" dirty="0">
                <a:latin typeface="pplxSerif"/>
              </a:rPr>
            </a:br>
            <a:r>
              <a:rPr lang="en-US" sz="2400" b="0" dirty="0">
                <a:latin typeface="pplxSerif"/>
              </a:rPr>
              <a:t>                       =7170-3435</a:t>
            </a:r>
            <a:br>
              <a:rPr lang="en-US" sz="2400" b="0" dirty="0">
                <a:latin typeface="pplxSerif"/>
              </a:rPr>
            </a:br>
            <a:r>
              <a:rPr lang="en-US" sz="2400" b="0" dirty="0">
                <a:latin typeface="pplxSerif"/>
              </a:rPr>
              <a:t>                       =3735N</a:t>
            </a:r>
            <a:br>
              <a:rPr lang="en-US" sz="2400" b="0" dirty="0">
                <a:latin typeface="pplxSerif"/>
              </a:rPr>
            </a:br>
            <a:r>
              <a:rPr lang="en-US" sz="2400" b="0" dirty="0">
                <a:latin typeface="pplxSerif"/>
              </a:rPr>
              <a:t>   Lower Arm(60%)=0.60*3735</a:t>
            </a:r>
            <a:br>
              <a:rPr lang="en-US" sz="2400" b="0" dirty="0">
                <a:latin typeface="pplxSerif"/>
              </a:rPr>
            </a:br>
            <a:r>
              <a:rPr lang="en-US" sz="2400" b="0" dirty="0">
                <a:latin typeface="pplxSerif"/>
              </a:rPr>
              <a:t>                                    =2241N</a:t>
            </a:r>
            <a:br>
              <a:rPr lang="en-US" sz="2400" b="0" dirty="0">
                <a:latin typeface="pplxSerif"/>
              </a:rPr>
            </a:br>
            <a:r>
              <a:rPr lang="en-US" sz="2400" b="0" dirty="0">
                <a:latin typeface="pplxSerif"/>
              </a:rPr>
              <a:t>    Upper Arm(40%)=0.40*3735</a:t>
            </a:r>
            <a:br>
              <a:rPr lang="en-US" sz="2400" b="0" dirty="0">
                <a:latin typeface="pplxSerif"/>
              </a:rPr>
            </a:br>
            <a:r>
              <a:rPr lang="en-US" sz="2400" b="0" dirty="0">
                <a:latin typeface="pplxSerif"/>
              </a:rPr>
              <a:t>                                   =1494N</a:t>
            </a:r>
            <a:br>
              <a:rPr lang="en-US" sz="2400" b="0" dirty="0">
                <a:latin typeface="pplxSerif"/>
              </a:rPr>
            </a:br>
            <a:r>
              <a:rPr lang="en-US" sz="1600" b="0" kern="100" dirty="0">
                <a:effectLst/>
                <a:latin typeface="Times New Roman" panose="02020603050405020304" pitchFamily="18" charset="0"/>
                <a:ea typeface="Times New Roman" panose="02020603050405020304" pitchFamily="18" charset="0"/>
                <a:cs typeface="Times New Roman" panose="02020603050405020304" pitchFamily="18" charset="0"/>
              </a:rPr>
              <a:t>Where:</a:t>
            </a:r>
            <a:br>
              <a:rPr lang="en-IN" sz="1600" b="0" kern="100" dirty="0">
                <a:effectLst/>
                <a:latin typeface="Aptos"/>
                <a:ea typeface="Aptos"/>
                <a:cs typeface="Times New Roman" panose="02020603050405020304" pitchFamily="18" charset="0"/>
              </a:rPr>
            </a:br>
            <a:r>
              <a:rPr lang="en-US" sz="1600" b="0" kern="100" dirty="0">
                <a:effectLst/>
                <a:latin typeface="Times New Roman" panose="02020603050405020304" pitchFamily="18" charset="0"/>
                <a:ea typeface="Times New Roman" panose="02020603050405020304" pitchFamily="18" charset="0"/>
                <a:cs typeface="Times New Roman" panose="02020603050405020304" pitchFamily="18" charset="0"/>
              </a:rPr>
              <a:t>Dynamic load-</a:t>
            </a:r>
            <a:r>
              <a:rPr lang="en-IN" sz="1600" b="0" kern="100" dirty="0">
                <a:effectLst/>
                <a:latin typeface="Aptos"/>
                <a:ea typeface="Aptos"/>
                <a:cs typeface="Times New Roman" panose="02020603050405020304" pitchFamily="18" charset="0"/>
              </a:rPr>
              <a:t>It is</a:t>
            </a:r>
            <a:r>
              <a:rPr lang="en-IN" sz="1600" b="0" kern="100" dirty="0">
                <a:effectLst/>
                <a:latin typeface="Times New Roman" panose="02020603050405020304" pitchFamily="18" charset="0"/>
                <a:ea typeface="Aptos"/>
                <a:cs typeface="Times New Roman" panose="02020603050405020304" pitchFamily="18" charset="0"/>
              </a:rPr>
              <a:t> a time-varying force acting on the suspension component due to road irregularities, vehicle acceleration, braking, and cornering during motion.</a:t>
            </a:r>
            <a:br>
              <a:rPr lang="en-IN" sz="1600" b="0" kern="100" dirty="0">
                <a:effectLst/>
                <a:latin typeface="Times New Roman" panose="02020603050405020304" pitchFamily="18" charset="0"/>
                <a:ea typeface="Aptos"/>
                <a:cs typeface="Times New Roman" panose="02020603050405020304" pitchFamily="18" charset="0"/>
              </a:rPr>
            </a:br>
            <a:br>
              <a:rPr lang="en-IN" sz="1600" b="0" kern="100" dirty="0">
                <a:effectLst/>
                <a:latin typeface="Aptos"/>
                <a:ea typeface="Aptos"/>
                <a:cs typeface="Times New Roman" panose="02020603050405020304" pitchFamily="18" charset="0"/>
              </a:rPr>
            </a:br>
            <a:r>
              <a:rPr lang="en-IN" sz="1600" b="0" kern="100" dirty="0">
                <a:effectLst/>
                <a:latin typeface="Times New Roman" panose="02020603050405020304" pitchFamily="18" charset="0"/>
                <a:ea typeface="Aptos"/>
                <a:cs typeface="Times New Roman" panose="02020603050405020304" pitchFamily="18" charset="0"/>
              </a:rPr>
              <a:t>Motion ratio- It is the ratio of the suspension component's displacement to the wheel's displacement, used to relate wheel forces and movements to the spring/damper in the suspension system. </a:t>
            </a:r>
            <a:br>
              <a:rPr lang="en-IN" sz="1600" b="0" kern="100" dirty="0">
                <a:effectLst/>
                <a:latin typeface="Times New Roman" panose="02020603050405020304" pitchFamily="18" charset="0"/>
                <a:ea typeface="Aptos"/>
                <a:cs typeface="Times New Roman" panose="02020603050405020304" pitchFamily="18" charset="0"/>
              </a:rPr>
            </a:br>
            <a:r>
              <a:rPr lang="en-IN" sz="1600" b="0" kern="100" dirty="0">
                <a:effectLst/>
                <a:latin typeface="Times New Roman" panose="02020603050405020304" pitchFamily="18" charset="0"/>
                <a:ea typeface="Aptos"/>
                <a:cs typeface="Times New Roman" panose="02020603050405020304" pitchFamily="18" charset="0"/>
              </a:rPr>
              <a:t>											</a:t>
            </a:r>
            <a:br>
              <a:rPr lang="en-IN" sz="1400" kern="100" dirty="0">
                <a:effectLst/>
                <a:latin typeface="Aptos"/>
                <a:ea typeface="Aptos"/>
                <a:cs typeface="Times New Roman" panose="02020603050405020304" pitchFamily="18" charset="0"/>
              </a:rPr>
            </a:br>
            <a:r>
              <a:rPr lang="en-IN" sz="1800" kern="100" dirty="0">
                <a:effectLst/>
                <a:latin typeface="Times New Roman" panose="02020603050405020304" pitchFamily="18" charset="0"/>
                <a:ea typeface="Aptos"/>
                <a:cs typeface="Times New Roman" panose="02020603050405020304" pitchFamily="18" charset="0"/>
              </a:rPr>
              <a:t> 												</a:t>
            </a:r>
            <a:r>
              <a:rPr lang="en-IN" sz="2000" b="0" kern="100" dirty="0">
                <a:effectLst/>
                <a:latin typeface="Times New Roman" panose="02020603050405020304" pitchFamily="18" charset="0"/>
                <a:ea typeface="Aptos"/>
                <a:cs typeface="Times New Roman" panose="02020603050405020304" pitchFamily="18" charset="0"/>
              </a:rPr>
              <a:t>     16</a:t>
            </a:r>
            <a:br>
              <a:rPr lang="en-IN" sz="1800" kern="100" dirty="0">
                <a:effectLst/>
                <a:latin typeface="Aptos"/>
                <a:ea typeface="Aptos"/>
                <a:cs typeface="Times New Roman" panose="02020603050405020304" pitchFamily="18" charset="0"/>
              </a:rPr>
            </a:br>
            <a:br>
              <a:rPr lang="en-US" sz="2400" b="0" dirty="0">
                <a:latin typeface="pplxSerif"/>
              </a:rPr>
            </a:br>
            <a:endParaRPr lang="en-IN" sz="2400" b="0" dirty="0"/>
          </a:p>
        </p:txBody>
      </p:sp>
      <p:sp>
        <p:nvSpPr>
          <p:cNvPr id="5" name="TextBox 4"/>
          <p:cNvSpPr txBox="1"/>
          <p:nvPr/>
        </p:nvSpPr>
        <p:spPr>
          <a:xfrm>
            <a:off x="1247863" y="146699"/>
            <a:ext cx="6102990" cy="646331"/>
          </a:xfrm>
          <a:prstGeom prst="rect">
            <a:avLst/>
          </a:prstGeom>
          <a:noFill/>
        </p:spPr>
        <p:txBody>
          <a:bodyPr wrap="square">
            <a:spAutoFit/>
          </a:bodyPr>
          <a:lstStyle/>
          <a:p>
            <a:r>
              <a:rPr lang="en-US" sz="3600" dirty="0">
                <a:latin typeface="Arial Rounded MT Bold" panose="020F0704030504030204" pitchFamily="34" charset="0"/>
              </a:rPr>
              <a:t>Load Calculation</a:t>
            </a:r>
            <a:endParaRPr lang="en-IN" sz="3600" dirty="0">
              <a:latin typeface="Arial Rounded MT Bold" panose="020F070403050403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9442" y="184233"/>
            <a:ext cx="9144000" cy="553998"/>
          </a:xfrm>
        </p:spPr>
        <p:txBody>
          <a:bodyPr/>
          <a:lstStyle/>
          <a:p>
            <a:pPr algn="l"/>
            <a:r>
              <a:rPr lang="en-US" sz="3600" dirty="0">
                <a:latin typeface="Arial Rounded MT Bold" panose="020F0704030504030204" pitchFamily="34" charset="0"/>
              </a:rPr>
              <a:t>Materials</a:t>
            </a:r>
            <a:endParaRPr lang="en-IN" sz="3600" dirty="0">
              <a:latin typeface="Arial Rounded MT Bold" panose="020F0704030504030204" pitchFamily="34" charset="0"/>
            </a:endParaRPr>
          </a:p>
        </p:txBody>
      </p:sp>
      <p:sp>
        <p:nvSpPr>
          <p:cNvPr id="3" name="Subtitle 2"/>
          <p:cNvSpPr>
            <a:spLocks noGrp="1"/>
          </p:cNvSpPr>
          <p:nvPr>
            <p:ph type="subTitle" idx="1"/>
          </p:nvPr>
        </p:nvSpPr>
        <p:spPr>
          <a:xfrm>
            <a:off x="609599" y="1322974"/>
            <a:ext cx="11504103" cy="4950714"/>
          </a:xfrm>
        </p:spPr>
        <p:txBody>
          <a:bodyPr/>
          <a:lstStyle/>
          <a:p>
            <a:pPr algn="just">
              <a:lnSpc>
                <a:spcPct val="107000"/>
              </a:lnSpc>
              <a:spcAft>
                <a:spcPts val="800"/>
              </a:spcAft>
            </a:pPr>
            <a:r>
              <a:rPr lang="en-IN" sz="2800" b="1" kern="100" dirty="0">
                <a:effectLst/>
                <a:latin typeface="Times New Roman" panose="02020603050405020304" pitchFamily="18" charset="0"/>
                <a:ea typeface="Times New Roman" panose="02020603050405020304" pitchFamily="18" charset="0"/>
                <a:cs typeface="Times New Roman" panose="02020603050405020304" pitchFamily="18" charset="0"/>
              </a:rPr>
              <a:t>Material preferred:</a:t>
            </a:r>
            <a:endParaRPr lang="en-IN" sz="2800" kern="100" dirty="0">
              <a:effectLst/>
              <a:latin typeface="Aptos"/>
              <a:ea typeface="Aptos"/>
              <a:cs typeface="Times New Roman" panose="02020603050405020304" pitchFamily="18" charset="0"/>
            </a:endParaRPr>
          </a:p>
          <a:p>
            <a:pPr algn="just">
              <a:lnSpc>
                <a:spcPct val="107000"/>
              </a:lnSpc>
              <a:spcAft>
                <a:spcPts val="800"/>
              </a:spcAft>
            </a:pPr>
            <a:r>
              <a:rPr lang="en-IN" sz="2800" kern="100" dirty="0">
                <a:effectLst/>
                <a:latin typeface="Times New Roman" panose="02020603050405020304" pitchFamily="18" charset="0"/>
                <a:ea typeface="Aptos"/>
                <a:cs typeface="Times New Roman" panose="02020603050405020304" pitchFamily="18" charset="0"/>
              </a:rPr>
              <a:t>Taken care of above mentioned parameters we have preferred the following materials :</a:t>
            </a:r>
            <a:endParaRPr lang="en-IN" sz="2800" kern="100" dirty="0">
              <a:effectLst/>
              <a:latin typeface="Times New Roman" panose="02020603050405020304" pitchFamily="18" charset="0"/>
              <a:ea typeface="Aptos"/>
              <a:cs typeface="Times New Roman" panose="02020603050405020304" pitchFamily="18" charset="0"/>
            </a:endParaRPr>
          </a:p>
          <a:p>
            <a:pPr algn="just">
              <a:lnSpc>
                <a:spcPct val="107000"/>
              </a:lnSpc>
              <a:spcAft>
                <a:spcPts val="800"/>
              </a:spcAft>
            </a:pPr>
            <a:endParaRPr lang="en-IN" sz="2800" kern="100" dirty="0">
              <a:effectLst/>
              <a:latin typeface="Aptos"/>
              <a:ea typeface="Aptos"/>
              <a:cs typeface="Times New Roman" panose="02020603050405020304" pitchFamily="18" charset="0"/>
            </a:endParaRPr>
          </a:p>
          <a:p>
            <a:pPr algn="just">
              <a:lnSpc>
                <a:spcPct val="107000"/>
              </a:lnSpc>
              <a:spcAft>
                <a:spcPts val="800"/>
              </a:spcAft>
            </a:pPr>
            <a:r>
              <a:rPr lang="en-IN" sz="2800" kern="100" dirty="0">
                <a:effectLst/>
                <a:latin typeface="Times New Roman" panose="02020603050405020304" pitchFamily="18" charset="0"/>
                <a:ea typeface="Aptos"/>
                <a:cs typeface="Times New Roman" panose="02020603050405020304" pitchFamily="18" charset="0"/>
              </a:rPr>
              <a:t>For control Arms: AA6061 T6,AISI 4130</a:t>
            </a:r>
            <a:endParaRPr lang="en-IN" sz="2800" kern="100" dirty="0">
              <a:effectLst/>
              <a:latin typeface="Times New Roman" panose="02020603050405020304" pitchFamily="18" charset="0"/>
              <a:ea typeface="Aptos"/>
              <a:cs typeface="Times New Roman" panose="02020603050405020304" pitchFamily="18" charset="0"/>
            </a:endParaRPr>
          </a:p>
          <a:p>
            <a:pPr algn="just">
              <a:lnSpc>
                <a:spcPct val="107000"/>
              </a:lnSpc>
              <a:spcAft>
                <a:spcPts val="800"/>
              </a:spcAft>
            </a:pPr>
            <a:endParaRPr lang="en-IN" sz="2800" kern="100" dirty="0">
              <a:effectLst/>
              <a:latin typeface="Aptos"/>
              <a:ea typeface="Aptos"/>
              <a:cs typeface="Times New Roman" panose="02020603050405020304" pitchFamily="18" charset="0"/>
            </a:endParaRPr>
          </a:p>
          <a:p>
            <a:pPr algn="just">
              <a:lnSpc>
                <a:spcPct val="107000"/>
              </a:lnSpc>
              <a:spcAft>
                <a:spcPts val="800"/>
              </a:spcAft>
            </a:pPr>
            <a:r>
              <a:rPr lang="en-IN" sz="2800" kern="100" dirty="0">
                <a:effectLst/>
                <a:latin typeface="Times New Roman" panose="02020603050405020304" pitchFamily="18" charset="0"/>
                <a:ea typeface="Aptos"/>
                <a:cs typeface="Times New Roman" panose="02020603050405020304" pitchFamily="18" charset="0"/>
              </a:rPr>
              <a:t>For a Spring: Chromium steel (</a:t>
            </a:r>
            <a:r>
              <a:rPr lang="en-IN" sz="2800" kern="100" dirty="0" err="1">
                <a:effectLst/>
                <a:latin typeface="Times New Roman" panose="02020603050405020304" pitchFamily="18" charset="0"/>
                <a:ea typeface="Aptos"/>
                <a:cs typeface="Times New Roman" panose="02020603050405020304" pitchFamily="18" charset="0"/>
              </a:rPr>
              <a:t>CrSi</a:t>
            </a:r>
            <a:r>
              <a:rPr lang="en-IN" sz="2800" kern="100" dirty="0">
                <a:effectLst/>
                <a:latin typeface="Times New Roman" panose="02020603050405020304" pitchFamily="18" charset="0"/>
                <a:ea typeface="Aptos"/>
                <a:cs typeface="Times New Roman" panose="02020603050405020304" pitchFamily="18" charset="0"/>
              </a:rPr>
              <a:t>), 65Si7 (spring steel)</a:t>
            </a:r>
            <a:endParaRPr lang="en-IN" sz="2800" kern="100" dirty="0">
              <a:effectLst/>
              <a:latin typeface="Aptos"/>
              <a:ea typeface="Aptos"/>
              <a:cs typeface="Times New Roman" panose="02020603050405020304" pitchFamily="18" charset="0"/>
            </a:endParaRPr>
          </a:p>
          <a:p>
            <a:endParaRPr lang="en-IN" dirty="0"/>
          </a:p>
          <a:p>
            <a:endParaRPr lang="en-IN" dirty="0"/>
          </a:p>
          <a:p>
            <a:r>
              <a:rPr lang="en-IN" dirty="0"/>
              <a:t>											     </a:t>
            </a:r>
            <a:r>
              <a:rPr lang="en-IN" sz="2000" dirty="0"/>
              <a:t>      17</a:t>
            </a:r>
            <a:endParaRPr lang="en-IN"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81387" y="118986"/>
            <a:ext cx="9144000" cy="553998"/>
          </a:xfrm>
        </p:spPr>
        <p:txBody>
          <a:bodyPr/>
          <a:lstStyle/>
          <a:p>
            <a:pPr algn="l"/>
            <a:r>
              <a:rPr lang="en-US" sz="3600" b="0" dirty="0">
                <a:latin typeface="Arial Rounded MT Bold" panose="020F0704030504030204" pitchFamily="34" charset="0"/>
              </a:rPr>
              <a:t>Material Properties</a:t>
            </a:r>
            <a:endParaRPr lang="en-IN" sz="3600" b="0" dirty="0">
              <a:latin typeface="Arial Rounded MT Bold" panose="020F0704030504030204" pitchFamily="34" charset="0"/>
            </a:endParaRPr>
          </a:p>
        </p:txBody>
      </p:sp>
      <p:sp>
        <p:nvSpPr>
          <p:cNvPr id="3" name="Subtitle 2"/>
          <p:cNvSpPr>
            <a:spLocks noGrp="1"/>
          </p:cNvSpPr>
          <p:nvPr>
            <p:ph type="subTitle" idx="1"/>
          </p:nvPr>
        </p:nvSpPr>
        <p:spPr>
          <a:xfrm>
            <a:off x="314585" y="1085254"/>
            <a:ext cx="11723618" cy="5216485"/>
          </a:xfrm>
        </p:spPr>
        <p:txBody>
          <a:bodyPr/>
          <a:lstStyle/>
          <a:p>
            <a:pPr algn="l"/>
            <a:r>
              <a:rPr lang="en-US" dirty="0"/>
              <a:t>Materials used for Control Arms</a:t>
            </a:r>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r>
              <a:rPr lang="en-US" dirty="0"/>
              <a:t>                                                                    							     </a:t>
            </a:r>
            <a:r>
              <a:rPr lang="en-US" sz="2000" dirty="0"/>
              <a:t>18</a:t>
            </a:r>
            <a:endParaRPr lang="en-US" sz="2000" dirty="0"/>
          </a:p>
        </p:txBody>
      </p:sp>
      <p:graphicFrame>
        <p:nvGraphicFramePr>
          <p:cNvPr id="4" name="Table 4"/>
          <p:cNvGraphicFramePr>
            <a:graphicFrameLocks noGrp="1"/>
          </p:cNvGraphicFramePr>
          <p:nvPr/>
        </p:nvGraphicFramePr>
        <p:xfrm>
          <a:off x="153797" y="1455629"/>
          <a:ext cx="5726886" cy="4475388"/>
        </p:xfrm>
        <a:graphic>
          <a:graphicData uri="http://schemas.openxmlformats.org/drawingml/2006/table">
            <a:tbl>
              <a:tblPr firstRow="1" bandRow="1">
                <a:tableStyleId>{5C22544A-7EE6-4342-B048-85BDC9FD1C3A}</a:tableStyleId>
              </a:tblPr>
              <a:tblGrid>
                <a:gridCol w="2863443"/>
                <a:gridCol w="2863443"/>
              </a:tblGrid>
              <a:tr h="745898">
                <a:tc>
                  <a:txBody>
                    <a:bodyPr/>
                    <a:lstStyle/>
                    <a:p>
                      <a:r>
                        <a:rPr lang="en-US" sz="2400" dirty="0">
                          <a:latin typeface="pplxSerif"/>
                        </a:rPr>
                        <a:t>Properties</a:t>
                      </a:r>
                      <a:endParaRPr lang="en-IN" sz="2400" dirty="0">
                        <a:latin typeface="pplxSerif"/>
                      </a:endParaRPr>
                    </a:p>
                  </a:txBody>
                  <a:tcPr/>
                </a:tc>
                <a:tc>
                  <a:txBody>
                    <a:bodyPr/>
                    <a:lstStyle/>
                    <a:p>
                      <a:r>
                        <a:rPr lang="en-US" dirty="0"/>
                        <a:t>AA6061-T6</a:t>
                      </a:r>
                      <a:endParaRPr lang="en-IN" dirty="0"/>
                    </a:p>
                  </a:txBody>
                  <a:tcPr/>
                </a:tc>
              </a:tr>
              <a:tr h="745898">
                <a:tc>
                  <a:txBody>
                    <a:bodyPr/>
                    <a:lstStyle/>
                    <a:p>
                      <a:r>
                        <a:rPr lang="en-US" dirty="0"/>
                        <a:t>Young’s Modulus</a:t>
                      </a:r>
                      <a:endParaRPr lang="en-IN" dirty="0"/>
                    </a:p>
                  </a:txBody>
                  <a:tcPr/>
                </a:tc>
                <a:tc>
                  <a:txBody>
                    <a:bodyPr/>
                    <a:lstStyle/>
                    <a:p>
                      <a:r>
                        <a:rPr lang="en-US" dirty="0"/>
                        <a:t>69 </a:t>
                      </a:r>
                      <a:r>
                        <a:rPr lang="en-US" dirty="0" err="1"/>
                        <a:t>Gpa</a:t>
                      </a:r>
                      <a:endParaRPr lang="en-IN" dirty="0"/>
                    </a:p>
                  </a:txBody>
                  <a:tcPr/>
                </a:tc>
              </a:tr>
              <a:tr h="745898">
                <a:tc>
                  <a:txBody>
                    <a:bodyPr/>
                    <a:lstStyle/>
                    <a:p>
                      <a:r>
                        <a:rPr lang="en-US" dirty="0"/>
                        <a:t>Density</a:t>
                      </a:r>
                      <a:endParaRPr lang="en-IN" dirty="0"/>
                    </a:p>
                  </a:txBody>
                  <a:tcPr/>
                </a:tc>
                <a:tc>
                  <a:txBody>
                    <a:bodyPr/>
                    <a:lstStyle/>
                    <a:p>
                      <a:r>
                        <a:rPr lang="en-US" dirty="0"/>
                        <a:t>2700 kg/m^3</a:t>
                      </a:r>
                      <a:endParaRPr lang="en-IN" dirty="0"/>
                    </a:p>
                  </a:txBody>
                  <a:tcPr/>
                </a:tc>
              </a:tr>
              <a:tr h="745898">
                <a:tc>
                  <a:txBody>
                    <a:bodyPr/>
                    <a:lstStyle/>
                    <a:p>
                      <a:r>
                        <a:rPr lang="en-US" dirty="0"/>
                        <a:t>Yield Strength</a:t>
                      </a:r>
                      <a:endParaRPr lang="en-IN" dirty="0"/>
                    </a:p>
                  </a:txBody>
                  <a:tcPr/>
                </a:tc>
                <a:tc>
                  <a:txBody>
                    <a:bodyPr/>
                    <a:lstStyle/>
                    <a:p>
                      <a:r>
                        <a:rPr lang="en-US" dirty="0"/>
                        <a:t>276 </a:t>
                      </a:r>
                      <a:r>
                        <a:rPr lang="en-US" dirty="0" err="1"/>
                        <a:t>Mpa</a:t>
                      </a:r>
                      <a:endParaRPr lang="en-IN" dirty="0"/>
                    </a:p>
                  </a:txBody>
                  <a:tcPr/>
                </a:tc>
              </a:tr>
              <a:tr h="745898">
                <a:tc>
                  <a:txBody>
                    <a:bodyPr/>
                    <a:lstStyle/>
                    <a:p>
                      <a:r>
                        <a:rPr lang="en-US" dirty="0" err="1"/>
                        <a:t>Poission’s</a:t>
                      </a:r>
                      <a:r>
                        <a:rPr lang="en-US" dirty="0"/>
                        <a:t> Ratio</a:t>
                      </a:r>
                      <a:endParaRPr lang="en-IN" dirty="0"/>
                    </a:p>
                  </a:txBody>
                  <a:tcPr/>
                </a:tc>
                <a:tc>
                  <a:txBody>
                    <a:bodyPr/>
                    <a:lstStyle/>
                    <a:p>
                      <a:r>
                        <a:rPr lang="en-US" dirty="0"/>
                        <a:t>0.33</a:t>
                      </a:r>
                      <a:endParaRPr lang="en-IN" dirty="0"/>
                    </a:p>
                  </a:txBody>
                  <a:tcPr/>
                </a:tc>
              </a:tr>
              <a:tr h="745898">
                <a:tc>
                  <a:txBody>
                    <a:bodyPr/>
                    <a:lstStyle/>
                    <a:p>
                      <a:r>
                        <a:rPr lang="en-US" dirty="0"/>
                        <a:t>Ultimate Strength</a:t>
                      </a:r>
                      <a:endParaRPr lang="en-IN" dirty="0"/>
                    </a:p>
                  </a:txBody>
                  <a:tcPr/>
                </a:tc>
                <a:tc>
                  <a:txBody>
                    <a:bodyPr/>
                    <a:lstStyle/>
                    <a:p>
                      <a:r>
                        <a:rPr lang="en-US" dirty="0"/>
                        <a:t>310 </a:t>
                      </a:r>
                      <a:r>
                        <a:rPr lang="en-US" dirty="0" err="1"/>
                        <a:t>Mpa</a:t>
                      </a:r>
                      <a:endParaRPr lang="en-IN" dirty="0"/>
                    </a:p>
                  </a:txBody>
                  <a:tcPr/>
                </a:tc>
              </a:tr>
            </a:tbl>
          </a:graphicData>
        </a:graphic>
      </p:graphicFrame>
      <p:graphicFrame>
        <p:nvGraphicFramePr>
          <p:cNvPr id="5" name="Table 5"/>
          <p:cNvGraphicFramePr>
            <a:graphicFrameLocks noGrp="1"/>
          </p:cNvGraphicFramePr>
          <p:nvPr/>
        </p:nvGraphicFramePr>
        <p:xfrm>
          <a:off x="6095999" y="1455629"/>
          <a:ext cx="5942204" cy="4467000"/>
        </p:xfrm>
        <a:graphic>
          <a:graphicData uri="http://schemas.openxmlformats.org/drawingml/2006/table">
            <a:tbl>
              <a:tblPr firstRow="1" bandRow="1">
                <a:tableStyleId>{5C22544A-7EE6-4342-B048-85BDC9FD1C3A}</a:tableStyleId>
              </a:tblPr>
              <a:tblGrid>
                <a:gridCol w="2971102"/>
                <a:gridCol w="2971102"/>
              </a:tblGrid>
              <a:tr h="744500">
                <a:tc>
                  <a:txBody>
                    <a:bodyPr/>
                    <a:lstStyle/>
                    <a:p>
                      <a:r>
                        <a:rPr lang="en-US" sz="2400" dirty="0">
                          <a:latin typeface="pplxSerif"/>
                        </a:rPr>
                        <a:t>Properties</a:t>
                      </a:r>
                      <a:endParaRPr lang="en-IN" sz="2400" dirty="0">
                        <a:latin typeface="pplxSerif"/>
                      </a:endParaRPr>
                    </a:p>
                  </a:txBody>
                  <a:tcPr/>
                </a:tc>
                <a:tc>
                  <a:txBody>
                    <a:bodyPr/>
                    <a:lstStyle/>
                    <a:p>
                      <a:r>
                        <a:rPr lang="en-US" dirty="0"/>
                        <a:t>AISI4130</a:t>
                      </a:r>
                      <a:endParaRPr lang="en-IN" dirty="0"/>
                    </a:p>
                  </a:txBody>
                  <a:tcPr/>
                </a:tc>
              </a:tr>
              <a:tr h="744500">
                <a:tc>
                  <a:txBody>
                    <a:bodyPr/>
                    <a:lstStyle/>
                    <a:p>
                      <a:r>
                        <a:rPr lang="en-US" dirty="0"/>
                        <a:t>Young’s Modulus</a:t>
                      </a:r>
                      <a:endParaRPr lang="en-IN" dirty="0"/>
                    </a:p>
                  </a:txBody>
                  <a:tcPr/>
                </a:tc>
                <a:tc>
                  <a:txBody>
                    <a:bodyPr/>
                    <a:lstStyle/>
                    <a:p>
                      <a:r>
                        <a:rPr lang="en-US" dirty="0"/>
                        <a:t>205 </a:t>
                      </a:r>
                      <a:r>
                        <a:rPr lang="en-US" dirty="0" err="1"/>
                        <a:t>Gpa</a:t>
                      </a:r>
                      <a:endParaRPr lang="en-IN" dirty="0"/>
                    </a:p>
                  </a:txBody>
                  <a:tcPr/>
                </a:tc>
              </a:tr>
              <a:tr h="744500">
                <a:tc>
                  <a:txBody>
                    <a:bodyPr/>
                    <a:lstStyle/>
                    <a:p>
                      <a:r>
                        <a:rPr lang="en-US" dirty="0"/>
                        <a:t>Density</a:t>
                      </a:r>
                      <a:endParaRPr lang="en-IN" dirty="0"/>
                    </a:p>
                  </a:txBody>
                  <a:tcPr/>
                </a:tc>
                <a:tc>
                  <a:txBody>
                    <a:bodyPr/>
                    <a:lstStyle/>
                    <a:p>
                      <a:r>
                        <a:rPr lang="en-US" dirty="0"/>
                        <a:t>7850 Kg/m^3</a:t>
                      </a:r>
                      <a:endParaRPr lang="en-IN" dirty="0"/>
                    </a:p>
                  </a:txBody>
                  <a:tcPr/>
                </a:tc>
              </a:tr>
              <a:tr h="744500">
                <a:tc>
                  <a:txBody>
                    <a:bodyPr/>
                    <a:lstStyle/>
                    <a:p>
                      <a:r>
                        <a:rPr lang="en-US" dirty="0"/>
                        <a:t>Yield Strength</a:t>
                      </a:r>
                      <a:endParaRPr lang="en-IN" dirty="0"/>
                    </a:p>
                  </a:txBody>
                  <a:tcPr/>
                </a:tc>
                <a:tc>
                  <a:txBody>
                    <a:bodyPr/>
                    <a:lstStyle/>
                    <a:p>
                      <a:r>
                        <a:rPr lang="en-US" dirty="0"/>
                        <a:t>460 </a:t>
                      </a:r>
                      <a:r>
                        <a:rPr lang="en-US" dirty="0" err="1"/>
                        <a:t>Mpa</a:t>
                      </a:r>
                      <a:endParaRPr lang="en-IN" dirty="0"/>
                    </a:p>
                  </a:txBody>
                  <a:tcPr/>
                </a:tc>
              </a:tr>
              <a:tr h="744500">
                <a:tc>
                  <a:txBody>
                    <a:bodyPr/>
                    <a:lstStyle/>
                    <a:p>
                      <a:r>
                        <a:rPr lang="en-US" dirty="0" err="1"/>
                        <a:t>Poission’s</a:t>
                      </a:r>
                      <a:r>
                        <a:rPr lang="en-US" dirty="0"/>
                        <a:t> Ratio</a:t>
                      </a:r>
                      <a:endParaRPr lang="en-IN" dirty="0"/>
                    </a:p>
                  </a:txBody>
                  <a:tcPr/>
                </a:tc>
                <a:tc>
                  <a:txBody>
                    <a:bodyPr/>
                    <a:lstStyle/>
                    <a:p>
                      <a:r>
                        <a:rPr lang="en-US" dirty="0"/>
                        <a:t>0.3</a:t>
                      </a:r>
                      <a:endParaRPr lang="en-IN" dirty="0"/>
                    </a:p>
                  </a:txBody>
                  <a:tcPr/>
                </a:tc>
              </a:tr>
              <a:tr h="744500">
                <a:tc>
                  <a:txBody>
                    <a:bodyPr/>
                    <a:lstStyle/>
                    <a:p>
                      <a:r>
                        <a:rPr lang="en-US" dirty="0"/>
                        <a:t>Ultimate Strength</a:t>
                      </a:r>
                      <a:endParaRPr lang="en-IN" dirty="0"/>
                    </a:p>
                  </a:txBody>
                  <a:tcPr/>
                </a:tc>
                <a:tc>
                  <a:txBody>
                    <a:bodyPr/>
                    <a:lstStyle/>
                    <a:p>
                      <a:r>
                        <a:rPr lang="en-US" dirty="0"/>
                        <a:t>670 </a:t>
                      </a:r>
                      <a:r>
                        <a:rPr lang="en-US" dirty="0" err="1"/>
                        <a:t>Mpa</a:t>
                      </a:r>
                      <a:endParaRPr lang="en-IN" dirty="0"/>
                    </a:p>
                  </a:txBody>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50627" y="155320"/>
            <a:ext cx="8663031" cy="553998"/>
          </a:xfrm>
        </p:spPr>
        <p:txBody>
          <a:bodyPr/>
          <a:lstStyle/>
          <a:p>
            <a:pPr algn="l"/>
            <a:r>
              <a:rPr lang="en-US" sz="3600" b="0" dirty="0">
                <a:latin typeface="Arial Rounded MT Bold" panose="020F0704030504030204" pitchFamily="34" charset="0"/>
              </a:rPr>
              <a:t>Material Properties</a:t>
            </a:r>
            <a:endParaRPr lang="en-IN" sz="3600" dirty="0">
              <a:latin typeface="Arial Rounded MT Bold" panose="020F0704030504030204" pitchFamily="34" charset="0"/>
            </a:endParaRPr>
          </a:p>
        </p:txBody>
      </p:sp>
      <p:sp>
        <p:nvSpPr>
          <p:cNvPr id="3" name="Subtitle 2"/>
          <p:cNvSpPr>
            <a:spLocks noGrp="1"/>
          </p:cNvSpPr>
          <p:nvPr>
            <p:ph type="subTitle" idx="1"/>
          </p:nvPr>
        </p:nvSpPr>
        <p:spPr>
          <a:xfrm>
            <a:off x="684728" y="1141182"/>
            <a:ext cx="11507272" cy="5909310"/>
          </a:xfrm>
        </p:spPr>
        <p:txBody>
          <a:bodyPr/>
          <a:lstStyle/>
          <a:p>
            <a:pPr algn="l"/>
            <a:r>
              <a:rPr lang="en-US" dirty="0"/>
              <a:t>Materials used for Spring</a:t>
            </a:r>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r>
              <a:rPr lang="en-US" sz="2000" dirty="0"/>
              <a:t>											                19</a:t>
            </a:r>
            <a:r>
              <a:rPr lang="en-US" dirty="0"/>
              <a:t>										</a:t>
            </a:r>
            <a:endParaRPr lang="en-US" dirty="0"/>
          </a:p>
          <a:p>
            <a:pPr algn="l"/>
            <a:endParaRPr lang="en-IN" dirty="0"/>
          </a:p>
        </p:txBody>
      </p:sp>
      <p:graphicFrame>
        <p:nvGraphicFramePr>
          <p:cNvPr id="4" name="Table 4"/>
          <p:cNvGraphicFramePr>
            <a:graphicFrameLocks noGrp="1"/>
          </p:cNvGraphicFramePr>
          <p:nvPr/>
        </p:nvGraphicFramePr>
        <p:xfrm>
          <a:off x="136088" y="1544320"/>
          <a:ext cx="5828484" cy="4490718"/>
        </p:xfrm>
        <a:graphic>
          <a:graphicData uri="http://schemas.openxmlformats.org/drawingml/2006/table">
            <a:tbl>
              <a:tblPr firstRow="1" bandRow="1">
                <a:tableStyleId>{5C22544A-7EE6-4342-B048-85BDC9FD1C3A}</a:tableStyleId>
              </a:tblPr>
              <a:tblGrid>
                <a:gridCol w="2914242"/>
                <a:gridCol w="2914242"/>
              </a:tblGrid>
              <a:tr h="748453">
                <a:tc>
                  <a:txBody>
                    <a:bodyPr/>
                    <a:lstStyle/>
                    <a:p>
                      <a:r>
                        <a:rPr lang="en-US" dirty="0"/>
                        <a:t>Properties</a:t>
                      </a:r>
                      <a:endParaRPr lang="en-IN" dirty="0"/>
                    </a:p>
                  </a:txBody>
                  <a:tcPr/>
                </a:tc>
                <a:tc>
                  <a:txBody>
                    <a:bodyPr/>
                    <a:lstStyle/>
                    <a:p>
                      <a:r>
                        <a:rPr lang="en-US" dirty="0"/>
                        <a:t>Chrome Silicon Steel</a:t>
                      </a:r>
                      <a:endParaRPr lang="en-IN" dirty="0"/>
                    </a:p>
                  </a:txBody>
                  <a:tcPr/>
                </a:tc>
              </a:tr>
              <a:tr h="748453">
                <a:tc>
                  <a:txBody>
                    <a:bodyPr/>
                    <a:lstStyle/>
                    <a:p>
                      <a:r>
                        <a:rPr lang="en-US" dirty="0"/>
                        <a:t>Young’s Modulus</a:t>
                      </a:r>
                      <a:endParaRPr lang="en-IN" dirty="0"/>
                    </a:p>
                  </a:txBody>
                  <a:tcPr/>
                </a:tc>
                <a:tc>
                  <a:txBody>
                    <a:bodyPr/>
                    <a:lstStyle/>
                    <a:p>
                      <a:r>
                        <a:rPr lang="en-US" dirty="0"/>
                        <a:t>2.01 *10^11 pa</a:t>
                      </a:r>
                      <a:endParaRPr lang="en-IN" dirty="0"/>
                    </a:p>
                  </a:txBody>
                  <a:tcPr/>
                </a:tc>
              </a:tr>
              <a:tr h="748453">
                <a:tc>
                  <a:txBody>
                    <a:bodyPr/>
                    <a:lstStyle/>
                    <a:p>
                      <a:r>
                        <a:rPr lang="en-US" dirty="0"/>
                        <a:t>Density</a:t>
                      </a:r>
                      <a:endParaRPr lang="en-IN" dirty="0"/>
                    </a:p>
                  </a:txBody>
                  <a:tcPr/>
                </a:tc>
                <a:tc>
                  <a:txBody>
                    <a:bodyPr/>
                    <a:lstStyle/>
                    <a:p>
                      <a:r>
                        <a:rPr lang="en-US" dirty="0"/>
                        <a:t>7800 kg/m^3</a:t>
                      </a:r>
                      <a:endParaRPr lang="en-IN" dirty="0"/>
                    </a:p>
                  </a:txBody>
                  <a:tcPr/>
                </a:tc>
              </a:tr>
              <a:tr h="748453">
                <a:tc>
                  <a:txBody>
                    <a:bodyPr/>
                    <a:lstStyle/>
                    <a:p>
                      <a:r>
                        <a:rPr lang="en-US" dirty="0"/>
                        <a:t>Yield Strength</a:t>
                      </a:r>
                      <a:endParaRPr lang="en-IN" dirty="0"/>
                    </a:p>
                  </a:txBody>
                  <a:tcPr/>
                </a:tc>
                <a:tc>
                  <a:txBody>
                    <a:bodyPr/>
                    <a:lstStyle/>
                    <a:p>
                      <a:r>
                        <a:rPr lang="en-US" dirty="0"/>
                        <a:t>1000  </a:t>
                      </a:r>
                      <a:r>
                        <a:rPr lang="en-US" dirty="0" err="1"/>
                        <a:t>Mpa</a:t>
                      </a:r>
                      <a:endParaRPr lang="en-IN" dirty="0"/>
                    </a:p>
                  </a:txBody>
                  <a:tcPr/>
                </a:tc>
              </a:tr>
              <a:tr h="748453">
                <a:tc>
                  <a:txBody>
                    <a:bodyPr/>
                    <a:lstStyle/>
                    <a:p>
                      <a:r>
                        <a:rPr lang="en-US" dirty="0"/>
                        <a:t>Poisson’</a:t>
                      </a:r>
                      <a:r>
                        <a:rPr lang="en-IN" dirty="0"/>
                        <a:t>s Ratio</a:t>
                      </a:r>
                      <a:endParaRPr lang="en-US" dirty="0"/>
                    </a:p>
                  </a:txBody>
                  <a:tcPr/>
                </a:tc>
                <a:tc>
                  <a:txBody>
                    <a:bodyPr/>
                    <a:lstStyle/>
                    <a:p>
                      <a:r>
                        <a:rPr lang="en-US" dirty="0"/>
                        <a:t>0.3</a:t>
                      </a:r>
                      <a:endParaRPr lang="en-IN" dirty="0"/>
                    </a:p>
                  </a:txBody>
                  <a:tcPr/>
                </a:tc>
              </a:tr>
              <a:tr h="748453">
                <a:tc>
                  <a:txBody>
                    <a:bodyPr/>
                    <a:lstStyle/>
                    <a:p>
                      <a:r>
                        <a:rPr lang="en-US" dirty="0"/>
                        <a:t>Ultimate Strength</a:t>
                      </a:r>
                      <a:endParaRPr lang="en-IN" dirty="0"/>
                    </a:p>
                  </a:txBody>
                  <a:tcPr/>
                </a:tc>
                <a:tc>
                  <a:txBody>
                    <a:bodyPr/>
                    <a:lstStyle/>
                    <a:p>
                      <a:r>
                        <a:rPr lang="en-US" dirty="0"/>
                        <a:t>1800 </a:t>
                      </a:r>
                      <a:r>
                        <a:rPr lang="en-US" dirty="0" err="1"/>
                        <a:t>Mpa</a:t>
                      </a:r>
                      <a:endParaRPr lang="en-IN" dirty="0"/>
                    </a:p>
                  </a:txBody>
                  <a:tcPr/>
                </a:tc>
              </a:tr>
            </a:tbl>
          </a:graphicData>
        </a:graphic>
      </p:graphicFrame>
      <p:graphicFrame>
        <p:nvGraphicFramePr>
          <p:cNvPr id="5" name="Table 5"/>
          <p:cNvGraphicFramePr>
            <a:graphicFrameLocks noGrp="1"/>
          </p:cNvGraphicFramePr>
          <p:nvPr/>
        </p:nvGraphicFramePr>
        <p:xfrm>
          <a:off x="6096000" y="1544320"/>
          <a:ext cx="5959912" cy="4389119"/>
        </p:xfrm>
        <a:graphic>
          <a:graphicData uri="http://schemas.openxmlformats.org/drawingml/2006/table">
            <a:tbl>
              <a:tblPr firstRow="1" bandRow="1">
                <a:tableStyleId>{5C22544A-7EE6-4342-B048-85BDC9FD1C3A}</a:tableStyleId>
              </a:tblPr>
              <a:tblGrid>
                <a:gridCol w="2964110"/>
                <a:gridCol w="2995802"/>
              </a:tblGrid>
              <a:tr h="576374">
                <a:tc>
                  <a:txBody>
                    <a:bodyPr/>
                    <a:lstStyle/>
                    <a:p>
                      <a:r>
                        <a:rPr lang="en-US" dirty="0"/>
                        <a:t>Properties</a:t>
                      </a:r>
                      <a:endParaRPr lang="en-IN" dirty="0"/>
                    </a:p>
                  </a:txBody>
                  <a:tcPr/>
                </a:tc>
                <a:tc>
                  <a:txBody>
                    <a:bodyPr/>
                    <a:lstStyle/>
                    <a:p>
                      <a:r>
                        <a:rPr lang="en-US" dirty="0"/>
                        <a:t>65Si7</a:t>
                      </a:r>
                      <a:endParaRPr lang="en-IN" dirty="0"/>
                    </a:p>
                  </a:txBody>
                  <a:tcPr/>
                </a:tc>
              </a:tr>
              <a:tr h="762549">
                <a:tc>
                  <a:txBody>
                    <a:bodyPr/>
                    <a:lstStyle/>
                    <a:p>
                      <a:r>
                        <a:rPr lang="en-US" dirty="0"/>
                        <a:t>Young’s Modulus</a:t>
                      </a:r>
                      <a:endParaRPr lang="en-IN" dirty="0"/>
                    </a:p>
                  </a:txBody>
                  <a:tcPr/>
                </a:tc>
                <a:tc>
                  <a:txBody>
                    <a:bodyPr/>
                    <a:lstStyle/>
                    <a:p>
                      <a:r>
                        <a:rPr lang="en-US" dirty="0"/>
                        <a:t>210 </a:t>
                      </a:r>
                      <a:r>
                        <a:rPr lang="en-US" dirty="0" err="1"/>
                        <a:t>Gpa</a:t>
                      </a:r>
                      <a:endParaRPr lang="en-IN" dirty="0"/>
                    </a:p>
                  </a:txBody>
                  <a:tcPr/>
                </a:tc>
              </a:tr>
              <a:tr h="762549">
                <a:tc>
                  <a:txBody>
                    <a:bodyPr/>
                    <a:lstStyle/>
                    <a:p>
                      <a:r>
                        <a:rPr lang="en-US" dirty="0"/>
                        <a:t>Density</a:t>
                      </a:r>
                      <a:endParaRPr lang="en-IN" dirty="0"/>
                    </a:p>
                  </a:txBody>
                  <a:tcPr/>
                </a:tc>
                <a:tc>
                  <a:txBody>
                    <a:bodyPr/>
                    <a:lstStyle/>
                    <a:p>
                      <a:r>
                        <a:rPr lang="en-US" dirty="0"/>
                        <a:t>7850 Kg/m^3</a:t>
                      </a:r>
                      <a:endParaRPr lang="en-IN" dirty="0"/>
                    </a:p>
                  </a:txBody>
                  <a:tcPr/>
                </a:tc>
              </a:tr>
              <a:tr h="762549">
                <a:tc>
                  <a:txBody>
                    <a:bodyPr/>
                    <a:lstStyle/>
                    <a:p>
                      <a:r>
                        <a:rPr lang="en-US" dirty="0"/>
                        <a:t>Yield Strength</a:t>
                      </a:r>
                      <a:endParaRPr lang="en-IN" dirty="0"/>
                    </a:p>
                  </a:txBody>
                  <a:tcPr/>
                </a:tc>
                <a:tc>
                  <a:txBody>
                    <a:bodyPr/>
                    <a:lstStyle/>
                    <a:p>
                      <a:r>
                        <a:rPr lang="en-US" dirty="0"/>
                        <a:t>250 </a:t>
                      </a:r>
                      <a:r>
                        <a:rPr lang="en-US" dirty="0" err="1"/>
                        <a:t>Mpa</a:t>
                      </a:r>
                      <a:endParaRPr lang="en-IN" dirty="0"/>
                    </a:p>
                  </a:txBody>
                  <a:tcPr/>
                </a:tc>
              </a:tr>
              <a:tr h="762549">
                <a:tc>
                  <a:txBody>
                    <a:bodyPr/>
                    <a:lstStyle/>
                    <a:p>
                      <a:r>
                        <a:rPr lang="en-US" dirty="0"/>
                        <a:t>Poisson’</a:t>
                      </a:r>
                      <a:r>
                        <a:rPr lang="en-IN" dirty="0"/>
                        <a:t>s Ratio</a:t>
                      </a:r>
                      <a:endParaRPr lang="en-US" dirty="0"/>
                    </a:p>
                  </a:txBody>
                  <a:tcPr/>
                </a:tc>
                <a:tc>
                  <a:txBody>
                    <a:bodyPr/>
                    <a:lstStyle/>
                    <a:p>
                      <a:r>
                        <a:rPr lang="en-US" dirty="0"/>
                        <a:t>0.266</a:t>
                      </a:r>
                      <a:endParaRPr lang="en-IN" dirty="0"/>
                    </a:p>
                  </a:txBody>
                  <a:tcPr/>
                </a:tc>
              </a:tr>
              <a:tr h="762549">
                <a:tc>
                  <a:txBody>
                    <a:bodyPr/>
                    <a:lstStyle/>
                    <a:p>
                      <a:r>
                        <a:rPr lang="en-US" dirty="0"/>
                        <a:t>Ultimate Strength</a:t>
                      </a:r>
                      <a:endParaRPr lang="en-IN" dirty="0"/>
                    </a:p>
                  </a:txBody>
                  <a:tcPr/>
                </a:tc>
                <a:tc>
                  <a:txBody>
                    <a:bodyPr/>
                    <a:lstStyle/>
                    <a:p>
                      <a:r>
                        <a:rPr lang="en-US" dirty="0"/>
                        <a:t>460 </a:t>
                      </a:r>
                      <a:r>
                        <a:rPr lang="en-US" dirty="0" err="1"/>
                        <a:t>Mpa</a:t>
                      </a:r>
                      <a:endParaRPr lang="en-IN" dirty="0"/>
                    </a:p>
                  </a:txBody>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22664" y="175844"/>
            <a:ext cx="9144000" cy="553998"/>
          </a:xfrm>
        </p:spPr>
        <p:txBody>
          <a:bodyPr/>
          <a:lstStyle/>
          <a:p>
            <a:pPr algn="l"/>
            <a:r>
              <a:rPr lang="en-US" sz="3600" dirty="0">
                <a:latin typeface="Arial Rounded MT Bold" panose="020F0704030504030204" pitchFamily="34" charset="0"/>
                <a:cs typeface="Times New Roman" panose="02020603050405020304" pitchFamily="18" charset="0"/>
              </a:rPr>
              <a:t>Analysis </a:t>
            </a:r>
            <a:endParaRPr lang="en-IN" sz="3600" dirty="0">
              <a:latin typeface="Arial Rounded MT Bold" panose="020F0704030504030204" pitchFamily="34" charset="0"/>
              <a:cs typeface="Times New Roman" panose="02020603050405020304" pitchFamily="18" charset="0"/>
            </a:endParaRPr>
          </a:p>
        </p:txBody>
      </p:sp>
      <p:pic>
        <p:nvPicPr>
          <p:cNvPr id="4" name="Picture 3"/>
          <p:cNvPicPr>
            <a:picLocks noChangeAspect="1"/>
          </p:cNvPicPr>
          <p:nvPr/>
        </p:nvPicPr>
        <p:blipFill>
          <a:blip r:embed="rId1"/>
          <a:stretch>
            <a:fillRect/>
          </a:stretch>
        </p:blipFill>
        <p:spPr>
          <a:xfrm>
            <a:off x="611707" y="3061979"/>
            <a:ext cx="4547523" cy="2363600"/>
          </a:xfrm>
          <a:prstGeom prst="rect">
            <a:avLst/>
          </a:prstGeom>
        </p:spPr>
      </p:pic>
      <p:sp>
        <p:nvSpPr>
          <p:cNvPr id="3" name="Subtitle 2"/>
          <p:cNvSpPr>
            <a:spLocks noGrp="1"/>
          </p:cNvSpPr>
          <p:nvPr>
            <p:ph type="subTitle" idx="1"/>
          </p:nvPr>
        </p:nvSpPr>
        <p:spPr>
          <a:xfrm>
            <a:off x="672171" y="452843"/>
            <a:ext cx="11434884" cy="6863289"/>
          </a:xfrm>
        </p:spPr>
        <p:txBody>
          <a:bodyPr/>
          <a:lstStyle/>
          <a:p>
            <a:pPr algn="l"/>
            <a:endParaRPr lang="en-US" b="1" dirty="0"/>
          </a:p>
          <a:p>
            <a:pPr algn="l"/>
            <a:endParaRPr lang="en-IN" b="1" dirty="0"/>
          </a:p>
          <a:p>
            <a:pPr marL="342900" indent="-342900" algn="l">
              <a:buFont typeface="Arial" panose="020B0604020202020204" pitchFamily="34" charset="0"/>
              <a:buChar char="•"/>
            </a:pPr>
            <a:r>
              <a:rPr lang="en-IN" sz="2800" dirty="0"/>
              <a:t>Static structural</a:t>
            </a:r>
            <a:r>
              <a:rPr lang="en-IN" sz="2800" kern="100" dirty="0">
                <a:latin typeface="Times New Roman" panose="02020603050405020304" pitchFamily="18" charset="0"/>
                <a:cs typeface="Times New Roman" panose="02020603050405020304" pitchFamily="18" charset="0"/>
              </a:rPr>
              <a:t> </a:t>
            </a:r>
            <a:r>
              <a:rPr lang="en-US" sz="2800" dirty="0"/>
              <a:t>analysis was performed on the control arm using ANSYS by fixing both mounting ends</a:t>
            </a:r>
            <a:r>
              <a:rPr lang="en-IN" sz="2800" kern="100" dirty="0">
                <a:latin typeface="Times New Roman" panose="02020603050405020304" pitchFamily="18" charset="0"/>
                <a:cs typeface="Times New Roman" panose="02020603050405020304" pitchFamily="18" charset="0"/>
              </a:rPr>
              <a:t> </a:t>
            </a:r>
            <a:r>
              <a:rPr lang="en-US" sz="2800" dirty="0"/>
              <a:t>and applying load at the top joint region to simulate actual suspension loading </a:t>
            </a:r>
            <a:r>
              <a:rPr lang="en-US" sz="2800" dirty="0" err="1"/>
              <a:t>conditions.The</a:t>
            </a:r>
            <a:r>
              <a:rPr lang="en-US" sz="2800" dirty="0"/>
              <a:t> load applied is </a:t>
            </a:r>
            <a:r>
              <a:rPr lang="en-US" sz="2800" b="0" dirty="0">
                <a:latin typeface="pplxSerif"/>
              </a:rPr>
              <a:t>2241N</a:t>
            </a:r>
            <a:endParaRPr lang="en-IN" sz="2800" kern="100" dirty="0">
              <a:latin typeface="Times New Roman" panose="02020603050405020304" pitchFamily="18" charset="0"/>
              <a:ea typeface="Aptos"/>
              <a:cs typeface="Times New Roman" panose="02020603050405020304" pitchFamily="18" charset="0"/>
            </a:endParaRPr>
          </a:p>
          <a:p>
            <a:pPr algn="l"/>
            <a:endParaRPr lang="en-IN" sz="2000" kern="100" dirty="0">
              <a:effectLst/>
              <a:latin typeface="Times New Roman" panose="02020603050405020304" pitchFamily="18" charset="0"/>
              <a:ea typeface="Aptos"/>
              <a:cs typeface="Times New Roman" panose="02020603050405020304" pitchFamily="18" charset="0"/>
            </a:endParaRPr>
          </a:p>
          <a:p>
            <a:pPr algn="l"/>
            <a:endParaRPr lang="en-IN" sz="2000" kern="100" dirty="0">
              <a:latin typeface="Times New Roman" panose="02020603050405020304" pitchFamily="18" charset="0"/>
              <a:ea typeface="Aptos"/>
              <a:cs typeface="Times New Roman" panose="02020603050405020304" pitchFamily="18" charset="0"/>
            </a:endParaRPr>
          </a:p>
          <a:p>
            <a:pPr algn="l"/>
            <a:endParaRPr lang="en-IN" sz="2000" kern="100" dirty="0">
              <a:effectLst/>
              <a:latin typeface="Times New Roman" panose="02020603050405020304" pitchFamily="18" charset="0"/>
              <a:ea typeface="Aptos"/>
              <a:cs typeface="Times New Roman" panose="02020603050405020304" pitchFamily="18" charset="0"/>
            </a:endParaRPr>
          </a:p>
          <a:p>
            <a:pPr algn="l"/>
            <a:endParaRPr lang="en-IN" sz="2000" kern="100" dirty="0">
              <a:latin typeface="Times New Roman" panose="02020603050405020304" pitchFamily="18" charset="0"/>
              <a:ea typeface="Aptos"/>
              <a:cs typeface="Times New Roman" panose="02020603050405020304" pitchFamily="18" charset="0"/>
            </a:endParaRPr>
          </a:p>
          <a:p>
            <a:pPr algn="l"/>
            <a:endParaRPr lang="en-IN" sz="2000" kern="100" dirty="0">
              <a:effectLst/>
              <a:latin typeface="Times New Roman" panose="02020603050405020304" pitchFamily="18" charset="0"/>
              <a:ea typeface="Aptos"/>
              <a:cs typeface="Times New Roman" panose="02020603050405020304" pitchFamily="18" charset="0"/>
            </a:endParaRPr>
          </a:p>
          <a:p>
            <a:pPr algn="l"/>
            <a:endParaRPr lang="en-IN" sz="2000" kern="100" dirty="0">
              <a:latin typeface="Times New Roman" panose="02020603050405020304" pitchFamily="18" charset="0"/>
              <a:ea typeface="Aptos"/>
              <a:cs typeface="Times New Roman" panose="02020603050405020304" pitchFamily="18" charset="0"/>
            </a:endParaRPr>
          </a:p>
          <a:p>
            <a:pPr algn="l"/>
            <a:endParaRPr lang="en-IN" sz="2000" kern="100" dirty="0">
              <a:effectLst/>
              <a:latin typeface="Times New Roman" panose="02020603050405020304" pitchFamily="18" charset="0"/>
              <a:ea typeface="Aptos"/>
              <a:cs typeface="Times New Roman" panose="02020603050405020304" pitchFamily="18" charset="0"/>
            </a:endParaRPr>
          </a:p>
          <a:p>
            <a:pPr algn="l"/>
            <a:endParaRPr lang="en-IN" sz="2000" kern="100" dirty="0">
              <a:latin typeface="Times New Roman" panose="02020603050405020304" pitchFamily="18" charset="0"/>
              <a:ea typeface="Aptos"/>
              <a:cs typeface="Times New Roman" panose="02020603050405020304" pitchFamily="18" charset="0"/>
            </a:endParaRPr>
          </a:p>
          <a:p>
            <a:pPr algn="l"/>
            <a:endParaRPr lang="en-IN" sz="2000" kern="100" dirty="0">
              <a:effectLst/>
              <a:latin typeface="Times New Roman" panose="02020603050405020304" pitchFamily="18" charset="0"/>
              <a:ea typeface="Aptos"/>
              <a:cs typeface="Times New Roman" panose="02020603050405020304" pitchFamily="18" charset="0"/>
            </a:endParaRPr>
          </a:p>
          <a:p>
            <a:pPr algn="l"/>
            <a:endParaRPr lang="en-IN" sz="2000" kern="100" dirty="0">
              <a:effectLst/>
              <a:latin typeface="Times New Roman" panose="02020603050405020304" pitchFamily="18" charset="0"/>
              <a:ea typeface="Aptos"/>
              <a:cs typeface="Times New Roman" panose="02020603050405020304" pitchFamily="18" charset="0"/>
            </a:endParaRPr>
          </a:p>
          <a:p>
            <a:pPr algn="just">
              <a:lnSpc>
                <a:spcPct val="107000"/>
              </a:lnSpc>
              <a:spcAft>
                <a:spcPts val="800"/>
              </a:spcAft>
            </a:pPr>
            <a:r>
              <a:rPr lang="en-IN" sz="1800" kern="100" dirty="0">
                <a:effectLst/>
                <a:latin typeface="Times New Roman" panose="02020603050405020304" pitchFamily="18" charset="0"/>
                <a:ea typeface="Times New Roman" panose="02020603050405020304" pitchFamily="18" charset="0"/>
                <a:cs typeface="Times New Roman" panose="02020603050405020304" pitchFamily="18" charset="0"/>
              </a:rPr>
              <a:t>The total deformation in AA6061 T6 is 0.43696mm                   The total deformation in AISI 4130 is 0.15017mm</a:t>
            </a:r>
            <a:endParaRPr lang="en-IN" sz="1800" kern="100" dirty="0">
              <a:latin typeface="Aptos"/>
              <a:ea typeface="Times New Roman" panose="02020603050405020304" pitchFamily="18" charset="0"/>
              <a:cs typeface="Times New Roman" panose="02020603050405020304" pitchFamily="18" charset="0"/>
            </a:endParaRPr>
          </a:p>
          <a:p>
            <a:pPr algn="just">
              <a:lnSpc>
                <a:spcPct val="107000"/>
              </a:lnSpc>
              <a:spcAft>
                <a:spcPts val="800"/>
              </a:spcAft>
            </a:pPr>
            <a:r>
              <a:rPr lang="en-IN" sz="1800" kern="100" dirty="0">
                <a:effectLst/>
                <a:latin typeface="Aptos"/>
                <a:ea typeface="Aptos"/>
                <a:cs typeface="Times New Roman" panose="02020603050405020304" pitchFamily="18" charset="0"/>
              </a:rPr>
              <a:t>												</a:t>
            </a:r>
            <a:r>
              <a:rPr lang="en-IN" sz="2000" kern="100" dirty="0">
                <a:effectLst/>
                <a:latin typeface="Aptos"/>
                <a:ea typeface="Aptos"/>
                <a:cs typeface="Times New Roman" panose="02020603050405020304" pitchFamily="18" charset="0"/>
              </a:rPr>
              <a:t>20</a:t>
            </a:r>
            <a:endParaRPr lang="en-IN" sz="2000" dirty="0">
              <a:effectLst/>
              <a:latin typeface="Times New Roman" panose="02020603050405020304" pitchFamily="18" charset="0"/>
              <a:ea typeface="Aptos"/>
            </a:endParaRPr>
          </a:p>
          <a:p>
            <a:pPr algn="l"/>
            <a:endParaRPr lang="en-IN" sz="2000" kern="100" dirty="0">
              <a:latin typeface="Times New Roman" panose="02020603050405020304" pitchFamily="18" charset="0"/>
              <a:ea typeface="Aptos"/>
              <a:cs typeface="Times New Roman" panose="02020603050405020304" pitchFamily="18" charset="0"/>
            </a:endParaRPr>
          </a:p>
          <a:p>
            <a:pPr algn="l"/>
            <a:r>
              <a:rPr lang="en-IN" sz="2000" kern="100" dirty="0">
                <a:effectLst/>
                <a:latin typeface="Times New Roman" panose="02020603050405020304" pitchFamily="18" charset="0"/>
                <a:ea typeface="Aptos"/>
                <a:cs typeface="Times New Roman" panose="02020603050405020304" pitchFamily="18" charset="0"/>
              </a:rPr>
              <a:t>  </a:t>
            </a:r>
            <a:endParaRPr lang="en-IN" sz="2000" kern="100" dirty="0">
              <a:effectLst/>
              <a:latin typeface="Times New Roman" panose="02020603050405020304" pitchFamily="18" charset="0"/>
              <a:ea typeface="Aptos"/>
              <a:cs typeface="Times New Roman" panose="02020603050405020304" pitchFamily="18" charset="0"/>
            </a:endParaRPr>
          </a:p>
          <a:p>
            <a:pPr algn="l"/>
            <a:endParaRPr lang="en-IN" sz="2000" kern="100" dirty="0">
              <a:effectLst/>
              <a:latin typeface="Aptos"/>
              <a:ea typeface="Aptos"/>
              <a:cs typeface="Times New Roman" panose="02020603050405020304" pitchFamily="18" charset="0"/>
            </a:endParaRPr>
          </a:p>
        </p:txBody>
      </p:sp>
      <p:pic>
        <p:nvPicPr>
          <p:cNvPr id="6" name="Picture 5"/>
          <p:cNvPicPr>
            <a:picLocks noChangeAspect="1"/>
          </p:cNvPicPr>
          <p:nvPr/>
        </p:nvPicPr>
        <p:blipFill>
          <a:blip r:embed="rId2"/>
          <a:stretch>
            <a:fillRect/>
          </a:stretch>
        </p:blipFill>
        <p:spPr>
          <a:xfrm>
            <a:off x="6389613" y="3061979"/>
            <a:ext cx="4011516" cy="2164268"/>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48740" y="159425"/>
            <a:ext cx="9144000" cy="553998"/>
          </a:xfrm>
        </p:spPr>
        <p:txBody>
          <a:bodyPr/>
          <a:lstStyle/>
          <a:p>
            <a:pPr algn="l"/>
            <a:r>
              <a:rPr lang="en-US" sz="3600" dirty="0">
                <a:latin typeface="Arial Rounded MT Bold" panose="020F0704030504030204" pitchFamily="34" charset="0"/>
              </a:rPr>
              <a:t>Analysis </a:t>
            </a:r>
            <a:endParaRPr lang="en-IN" sz="3600" dirty="0">
              <a:latin typeface="Arial Rounded MT Bold" panose="020F0704030504030204" pitchFamily="34" charset="0"/>
            </a:endParaRPr>
          </a:p>
        </p:txBody>
      </p:sp>
      <p:sp>
        <p:nvSpPr>
          <p:cNvPr id="3" name="Subtitle 2"/>
          <p:cNvSpPr>
            <a:spLocks noGrp="1"/>
          </p:cNvSpPr>
          <p:nvPr>
            <p:ph type="subTitle" idx="1"/>
          </p:nvPr>
        </p:nvSpPr>
        <p:spPr>
          <a:xfrm>
            <a:off x="685800" y="3337560"/>
            <a:ext cx="11353800" cy="4089966"/>
          </a:xfrm>
        </p:spPr>
        <p:txBody>
          <a:bodyPr/>
          <a:lstStyle/>
          <a:p>
            <a:pPr algn="just">
              <a:lnSpc>
                <a:spcPct val="107000"/>
              </a:lnSpc>
              <a:spcAft>
                <a:spcPts val="800"/>
              </a:spcAft>
            </a:pPr>
            <a:r>
              <a:rPr lang="en-IN" sz="1800" kern="100" dirty="0">
                <a:effectLst/>
                <a:latin typeface="Times New Roman" panose="02020603050405020304" pitchFamily="18" charset="0"/>
                <a:ea typeface="Times New Roman" panose="02020603050405020304" pitchFamily="18" charset="0"/>
                <a:cs typeface="Times New Roman" panose="02020603050405020304" pitchFamily="18" charset="0"/>
              </a:rPr>
              <a:t>The total deformation in AA6061 T6 is 0.30297mm   	The total deformation in AISI 4130 is 0.12202mm</a:t>
            </a:r>
            <a:endParaRPr lang="en-IN" sz="1800" kern="100" dirty="0">
              <a:latin typeface="Times New Roman" panose="02020603050405020304" pitchFamily="18" charset="0"/>
              <a:ea typeface="Aptos"/>
              <a:cs typeface="Times New Roman" panose="02020603050405020304" pitchFamily="18" charset="0"/>
            </a:endParaRPr>
          </a:p>
          <a:p>
            <a:pPr algn="l">
              <a:buFont typeface="Arial" panose="020B0604020202020204" pitchFamily="34" charset="0"/>
              <a:buChar char="•"/>
            </a:pPr>
            <a:r>
              <a:rPr lang="en-US" sz="2800" dirty="0"/>
              <a:t>The load applied on the upper control arm is </a:t>
            </a:r>
            <a:r>
              <a:rPr lang="en-US" sz="2800" b="0" dirty="0">
                <a:latin typeface="pplxSerif"/>
              </a:rPr>
              <a:t>1494N</a:t>
            </a:r>
            <a:endParaRPr lang="en-US" sz="2800" dirty="0"/>
          </a:p>
          <a:p>
            <a:pPr algn="l">
              <a:buFont typeface="Arial" panose="020B0604020202020204" pitchFamily="34" charset="0"/>
              <a:buChar char="•"/>
            </a:pPr>
            <a:r>
              <a:rPr lang="en-US" sz="2800" dirty="0"/>
              <a:t>Two different materials, AISI 4130 Chromoly Steel and AA6061 </a:t>
            </a:r>
            <a:r>
              <a:rPr lang="en-US" sz="2800" dirty="0" err="1"/>
              <a:t>Aluminium</a:t>
            </a:r>
            <a:r>
              <a:rPr lang="en-US" sz="2800" dirty="0"/>
              <a:t> Alloy, were analyzed to compare their deformation characteristics under the same loading condition. </a:t>
            </a:r>
            <a:endParaRPr lang="en-US" sz="2800" dirty="0"/>
          </a:p>
          <a:p>
            <a:pPr algn="l">
              <a:buFont typeface="Arial" panose="020B0604020202020204" pitchFamily="34" charset="0"/>
              <a:buChar char="•"/>
            </a:pPr>
            <a:r>
              <a:rPr lang="en-US" sz="2800" dirty="0"/>
              <a:t>The deformation obtained in both materials was very small, indicating that the control arm design has sufficient stiffness						</a:t>
            </a:r>
            <a:r>
              <a:rPr lang="en-US" sz="2000" dirty="0"/>
              <a:t>21</a:t>
            </a:r>
            <a:endParaRPr lang="en-US" sz="2000" dirty="0"/>
          </a:p>
          <a:p>
            <a:pPr algn="l">
              <a:lnSpc>
                <a:spcPct val="107000"/>
              </a:lnSpc>
              <a:spcAft>
                <a:spcPts val="800"/>
              </a:spcAft>
            </a:pPr>
            <a:endParaRPr lang="en-IN" sz="1800" kern="100" dirty="0">
              <a:effectLst/>
              <a:latin typeface="Aptos"/>
              <a:ea typeface="Aptos"/>
              <a:cs typeface="Times New Roman" panose="02020603050405020304" pitchFamily="18" charset="0"/>
            </a:endParaRPr>
          </a:p>
          <a:p>
            <a:pPr algn="just">
              <a:lnSpc>
                <a:spcPct val="107000"/>
              </a:lnSpc>
              <a:spcAft>
                <a:spcPts val="800"/>
              </a:spcAft>
            </a:pPr>
            <a:endParaRPr lang="en-IN" sz="1800" kern="100" dirty="0">
              <a:effectLst/>
              <a:latin typeface="Aptos"/>
              <a:ea typeface="Aptos"/>
              <a:cs typeface="Times New Roman" panose="02020603050405020304" pitchFamily="18" charset="0"/>
            </a:endParaRPr>
          </a:p>
          <a:p>
            <a:endParaRPr lang="en-IN" sz="2000" dirty="0"/>
          </a:p>
        </p:txBody>
      </p:sp>
      <p:pic>
        <p:nvPicPr>
          <p:cNvPr id="4" name="Picture 3"/>
          <p:cNvPicPr>
            <a:picLocks noChangeAspect="1"/>
          </p:cNvPicPr>
          <p:nvPr/>
        </p:nvPicPr>
        <p:blipFill>
          <a:blip r:embed="rId1"/>
          <a:stretch>
            <a:fillRect/>
          </a:stretch>
        </p:blipFill>
        <p:spPr>
          <a:xfrm>
            <a:off x="924899" y="1054259"/>
            <a:ext cx="3895682" cy="2206943"/>
          </a:xfrm>
          <a:prstGeom prst="rect">
            <a:avLst/>
          </a:prstGeom>
        </p:spPr>
      </p:pic>
      <p:pic>
        <p:nvPicPr>
          <p:cNvPr id="5" name="Picture 4"/>
          <p:cNvPicPr>
            <a:picLocks noChangeAspect="1"/>
          </p:cNvPicPr>
          <p:nvPr/>
        </p:nvPicPr>
        <p:blipFill>
          <a:blip r:embed="rId2"/>
          <a:stretch>
            <a:fillRect/>
          </a:stretch>
        </p:blipFill>
        <p:spPr>
          <a:xfrm>
            <a:off x="6217752" y="998220"/>
            <a:ext cx="4137828" cy="2206943"/>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08100" y="187364"/>
            <a:ext cx="9144000" cy="553998"/>
          </a:xfrm>
        </p:spPr>
        <p:txBody>
          <a:bodyPr/>
          <a:lstStyle/>
          <a:p>
            <a:pPr algn="l"/>
            <a:r>
              <a:rPr lang="en-US" sz="3600" dirty="0">
                <a:latin typeface="Arial Rounded MT Bold" panose="020F0704030504030204" pitchFamily="34" charset="0"/>
              </a:rPr>
              <a:t>Analysis </a:t>
            </a:r>
            <a:endParaRPr lang="en-IN" sz="3600" dirty="0">
              <a:latin typeface="Arial Rounded MT Bold" panose="020F0704030504030204" pitchFamily="34" charset="0"/>
            </a:endParaRPr>
          </a:p>
        </p:txBody>
      </p:sp>
      <p:sp>
        <p:nvSpPr>
          <p:cNvPr id="3" name="Subtitle 2"/>
          <p:cNvSpPr>
            <a:spLocks noGrp="1"/>
          </p:cNvSpPr>
          <p:nvPr>
            <p:ph type="subTitle" idx="1"/>
          </p:nvPr>
        </p:nvSpPr>
        <p:spPr>
          <a:xfrm>
            <a:off x="1196340" y="1303020"/>
            <a:ext cx="10843260" cy="6894195"/>
          </a:xfrm>
        </p:spPr>
        <p:txBody>
          <a:bodyPr/>
          <a:lstStyle/>
          <a:p>
            <a:pPr algn="l"/>
            <a:r>
              <a:rPr lang="en-US" sz="2800" dirty="0"/>
              <a:t>These are very small deformation values for a suspension control arm under static loading.</a:t>
            </a:r>
            <a:endParaRPr lang="en-US" sz="2800" dirty="0"/>
          </a:p>
          <a:p>
            <a:pPr algn="l"/>
            <a:endParaRPr lang="en-US" sz="2800" dirty="0"/>
          </a:p>
          <a:p>
            <a:pPr algn="l"/>
            <a:r>
              <a:rPr lang="en-US" sz="2800" dirty="0"/>
              <a:t>Reason:</a:t>
            </a:r>
            <a:endParaRPr lang="en-US" sz="2800" dirty="0"/>
          </a:p>
          <a:p>
            <a:pPr algn="l">
              <a:buFont typeface="Arial" panose="020B0604020202020204" pitchFamily="34" charset="0"/>
              <a:buChar char="•"/>
            </a:pPr>
            <a:r>
              <a:rPr lang="en-US" sz="2800" dirty="0"/>
              <a:t>The control arm geometry is rigid. </a:t>
            </a:r>
            <a:endParaRPr lang="en-US" sz="2800" dirty="0"/>
          </a:p>
          <a:p>
            <a:pPr algn="l">
              <a:buFont typeface="Arial" panose="020B0604020202020204" pitchFamily="34" charset="0"/>
              <a:buChar char="•"/>
            </a:pPr>
            <a:r>
              <a:rPr lang="en-US" sz="2800" dirty="0"/>
              <a:t>Both materials have good structural strength. </a:t>
            </a:r>
            <a:endParaRPr lang="en-US" sz="2800" dirty="0"/>
          </a:p>
          <a:p>
            <a:pPr algn="l">
              <a:buFont typeface="Arial" panose="020B0604020202020204" pitchFamily="34" charset="0"/>
              <a:buChar char="•"/>
            </a:pPr>
            <a:r>
              <a:rPr lang="en-US" sz="2800" dirty="0"/>
              <a:t>The mounting ends are fixed, which reduces displacement. </a:t>
            </a:r>
            <a:endParaRPr lang="en-US" sz="2800" dirty="0"/>
          </a:p>
          <a:p>
            <a:pPr algn="l">
              <a:buFont typeface="Arial" panose="020B0604020202020204" pitchFamily="34" charset="0"/>
              <a:buChar char="•"/>
            </a:pPr>
            <a:r>
              <a:rPr lang="en-US" sz="2800" dirty="0"/>
              <a:t>AA6061 shows more deformation because aluminum has lower Young’s modulus</a:t>
            </a:r>
            <a:endParaRPr lang="en-US" sz="2800" dirty="0"/>
          </a:p>
          <a:p>
            <a:pPr algn="l">
              <a:buFont typeface="Arial" panose="020B0604020202020204" pitchFamily="34" charset="0"/>
              <a:buChar char="•"/>
            </a:pPr>
            <a:r>
              <a:rPr lang="en-US" sz="2800" dirty="0"/>
              <a:t>AISI 4130 deforms less because steel is stiffer.</a:t>
            </a:r>
            <a:endParaRPr lang="en-US" sz="2800" dirty="0"/>
          </a:p>
          <a:p>
            <a:pPr algn="l">
              <a:buFont typeface="Arial" panose="020B0604020202020204" pitchFamily="34" charset="0"/>
              <a:buChar char="•"/>
            </a:pPr>
            <a:endParaRPr lang="en-US" dirty="0"/>
          </a:p>
          <a:p>
            <a:pPr algn="l"/>
            <a:r>
              <a:rPr lang="en-US" dirty="0"/>
              <a:t>											     </a:t>
            </a:r>
            <a:r>
              <a:rPr lang="en-US" sz="2000" dirty="0"/>
              <a:t>22</a:t>
            </a:r>
            <a:r>
              <a:rPr lang="en-US" dirty="0"/>
              <a:t>                                                                                               			</a:t>
            </a:r>
            <a:endParaRPr lang="en-US" dirty="0"/>
          </a:p>
          <a:p>
            <a:pPr algn="l">
              <a:buFont typeface="Arial" panose="020B0604020202020204" pitchFamily="34" charset="0"/>
              <a:buChar char="•"/>
            </a:pPr>
            <a:endParaRPr lang="en-US" dirty="0"/>
          </a:p>
          <a:p>
            <a:pPr algn="l"/>
            <a:endParaRPr lang="en-US" dirty="0"/>
          </a:p>
          <a:p>
            <a:pPr algn="l"/>
            <a:endParaRPr lang="en-US" dirty="0"/>
          </a:p>
          <a:p>
            <a:pPr algn="l"/>
            <a:endParaRPr lang="en-IN"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61440" y="151805"/>
            <a:ext cx="9144000" cy="553998"/>
          </a:xfrm>
        </p:spPr>
        <p:txBody>
          <a:bodyPr/>
          <a:lstStyle/>
          <a:p>
            <a:pPr algn="l"/>
            <a:r>
              <a:rPr lang="en-US" sz="3600" dirty="0">
                <a:latin typeface="Arial Rounded MT Bold" panose="020F0704030504030204" pitchFamily="34" charset="0"/>
              </a:rPr>
              <a:t>Analysis </a:t>
            </a:r>
            <a:endParaRPr lang="en-IN" sz="3600" dirty="0">
              <a:latin typeface="Arial Rounded MT Bold" panose="020F0704030504030204" pitchFamily="34" charset="0"/>
            </a:endParaRPr>
          </a:p>
        </p:txBody>
      </p:sp>
      <p:sp>
        <p:nvSpPr>
          <p:cNvPr id="3" name="Subtitle 2"/>
          <p:cNvSpPr>
            <a:spLocks noGrp="1"/>
          </p:cNvSpPr>
          <p:nvPr>
            <p:ph type="subTitle" idx="1"/>
          </p:nvPr>
        </p:nvSpPr>
        <p:spPr>
          <a:xfrm>
            <a:off x="741680" y="1259840"/>
            <a:ext cx="11318240" cy="5595121"/>
          </a:xfrm>
        </p:spPr>
        <p:txBody>
          <a:bodyPr/>
          <a:lstStyle/>
          <a:p>
            <a:pPr marL="457200" indent="-457200" algn="l">
              <a:lnSpc>
                <a:spcPct val="107000"/>
              </a:lnSpc>
              <a:spcAft>
                <a:spcPts val="800"/>
              </a:spcAft>
              <a:buFont typeface="Arial" panose="020B0604020202020204" pitchFamily="34" charset="0"/>
              <a:buChar char="•"/>
            </a:pPr>
            <a:r>
              <a:rPr lang="en-IN" sz="2800" kern="100" dirty="0">
                <a:effectLst/>
                <a:latin typeface="Times New Roman" panose="02020603050405020304" pitchFamily="18" charset="0"/>
                <a:ea typeface="Times New Roman" panose="02020603050405020304" pitchFamily="18" charset="0"/>
                <a:cs typeface="Times New Roman" panose="02020603050405020304" pitchFamily="18" charset="0"/>
              </a:rPr>
              <a:t>Chrome silicon steel and 65Si7(Silicon Manganese alloy spring steel) are the materials used for the spring in the shock absorber shown here. We </a:t>
            </a:r>
            <a:r>
              <a:rPr lang="en-IN" sz="2800" kern="100" dirty="0" err="1">
                <a:effectLst/>
                <a:latin typeface="Times New Roman" panose="02020603050405020304" pitchFamily="18" charset="0"/>
                <a:ea typeface="Times New Roman" panose="02020603050405020304" pitchFamily="18" charset="0"/>
                <a:cs typeface="Times New Roman" panose="02020603050405020304" pitchFamily="18" charset="0"/>
              </a:rPr>
              <a:t>analyzed</a:t>
            </a:r>
            <a:r>
              <a:rPr lang="en-IN" sz="2800" kern="100" dirty="0">
                <a:effectLst/>
                <a:latin typeface="Times New Roman" panose="02020603050405020304" pitchFamily="18" charset="0"/>
                <a:ea typeface="Times New Roman" panose="02020603050405020304" pitchFamily="18" charset="0"/>
                <a:cs typeface="Times New Roman" panose="02020603050405020304" pitchFamily="18" charset="0"/>
              </a:rPr>
              <a:t> only the spring by changing its materials, while keeping the remaining parts at their default materials (structural steel) in the </a:t>
            </a:r>
            <a:r>
              <a:rPr lang="en-IN" sz="2800" kern="100" dirty="0" err="1">
                <a:effectLst/>
                <a:latin typeface="Times New Roman" panose="02020603050405020304" pitchFamily="18" charset="0"/>
                <a:ea typeface="Times New Roman" panose="02020603050405020304" pitchFamily="18" charset="0"/>
                <a:cs typeface="Times New Roman" panose="02020603050405020304" pitchFamily="18" charset="0"/>
              </a:rPr>
              <a:t>ansys</a:t>
            </a:r>
            <a:endParaRPr lang="en-IN" sz="2800" kern="100" dirty="0">
              <a:effectLst/>
              <a:latin typeface="Times New Roman" panose="02020603050405020304" pitchFamily="18" charset="0"/>
              <a:ea typeface="Aptos"/>
              <a:cs typeface="Times New Roman" panose="02020603050405020304" pitchFamily="18" charset="0"/>
            </a:endParaRPr>
          </a:p>
          <a:p>
            <a:pPr algn="l">
              <a:lnSpc>
                <a:spcPct val="107000"/>
              </a:lnSpc>
              <a:spcAft>
                <a:spcPts val="800"/>
              </a:spcAft>
            </a:pPr>
            <a:r>
              <a:rPr lang="en-IN" sz="28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2800" kern="100" dirty="0">
              <a:effectLst/>
              <a:latin typeface="Times New Roman" panose="02020603050405020304" pitchFamily="18" charset="0"/>
              <a:ea typeface="Aptos"/>
              <a:cs typeface="Times New Roman" panose="02020603050405020304" pitchFamily="18" charset="0"/>
            </a:endParaRPr>
          </a:p>
          <a:p>
            <a:pPr marL="457200" indent="-457200" algn="l">
              <a:lnSpc>
                <a:spcPct val="107000"/>
              </a:lnSpc>
              <a:spcAft>
                <a:spcPts val="800"/>
              </a:spcAft>
              <a:buFont typeface="Arial" panose="020B0604020202020204" pitchFamily="34" charset="0"/>
              <a:buChar char="•"/>
            </a:pPr>
            <a:r>
              <a:rPr lang="en-IN" sz="2800" kern="100" dirty="0">
                <a:effectLst/>
                <a:latin typeface="Times New Roman" panose="02020603050405020304" pitchFamily="18" charset="0"/>
                <a:ea typeface="Times New Roman" panose="02020603050405020304" pitchFamily="18" charset="0"/>
                <a:cs typeface="Times New Roman" panose="02020603050405020304" pitchFamily="18" charset="0"/>
              </a:rPr>
              <a:t>In the shock absorber, the two end points (below) are fixed. The applied force on top is 3435 N. Here, we are only focusing on the spring deflection.</a:t>
            </a:r>
            <a:endParaRPr lang="en-IN" sz="2800" kern="100" dirty="0">
              <a:effectLst/>
              <a:latin typeface="Times New Roman" panose="02020603050405020304" pitchFamily="18" charset="0"/>
              <a:ea typeface="Aptos"/>
              <a:cs typeface="Times New Roman" panose="02020603050405020304" pitchFamily="18" charset="0"/>
            </a:endParaRPr>
          </a:p>
          <a:p>
            <a:pPr algn="l">
              <a:lnSpc>
                <a:spcPct val="107000"/>
              </a:lnSpc>
              <a:spcAft>
                <a:spcPts val="800"/>
              </a:spcAft>
            </a:pPr>
            <a:r>
              <a:rPr lang="en-IN" sz="28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2800" kern="100" dirty="0">
              <a:effectLst/>
              <a:latin typeface="Times New Roman" panose="02020603050405020304" pitchFamily="18" charset="0"/>
              <a:ea typeface="Aptos"/>
              <a:cs typeface="Times New Roman" panose="02020603050405020304" pitchFamily="18" charset="0"/>
            </a:endParaRPr>
          </a:p>
          <a:p>
            <a:pPr algn="l">
              <a:lnSpc>
                <a:spcPct val="107000"/>
              </a:lnSpc>
              <a:spcAft>
                <a:spcPts val="800"/>
              </a:spcAft>
            </a:pPr>
            <a:r>
              <a:rPr lang="en-IN" sz="28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28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l">
              <a:lnSpc>
                <a:spcPct val="107000"/>
              </a:lnSpc>
              <a:spcAft>
                <a:spcPts val="800"/>
              </a:spcAft>
            </a:pPr>
            <a:r>
              <a:rPr lang="en-IN" sz="2800" kern="100" dirty="0">
                <a:latin typeface="Times New Roman" panose="02020603050405020304" pitchFamily="18" charset="0"/>
                <a:ea typeface="Aptos"/>
                <a:cs typeface="Times New Roman" panose="02020603050405020304" pitchFamily="18" charset="0"/>
              </a:rPr>
              <a:t>												</a:t>
            </a:r>
            <a:r>
              <a:rPr lang="en-IN" sz="2000" kern="100" dirty="0">
                <a:latin typeface="Times New Roman" panose="02020603050405020304" pitchFamily="18" charset="0"/>
                <a:ea typeface="Aptos"/>
                <a:cs typeface="Times New Roman" panose="02020603050405020304" pitchFamily="18" charset="0"/>
              </a:rPr>
              <a:t>23</a:t>
            </a:r>
            <a:endParaRPr lang="en-IN" sz="2000" kern="100" dirty="0">
              <a:effectLst/>
              <a:latin typeface="Times New Roman" panose="02020603050405020304" pitchFamily="18" charset="0"/>
              <a:ea typeface="Aptos"/>
              <a:cs typeface="Times New Roman" panose="02020603050405020304" pitchFamily="18" charset="0"/>
            </a:endParaRPr>
          </a:p>
          <a:p>
            <a:pPr algn="l"/>
            <a:endParaRPr lang="en-IN"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51280" y="192445"/>
            <a:ext cx="9144000" cy="553998"/>
          </a:xfrm>
        </p:spPr>
        <p:txBody>
          <a:bodyPr/>
          <a:lstStyle/>
          <a:p>
            <a:pPr algn="l"/>
            <a:r>
              <a:rPr lang="en-US" sz="3600" dirty="0">
                <a:latin typeface="Arial Rounded MT Bold" panose="020F0704030504030204" pitchFamily="34" charset="0"/>
              </a:rPr>
              <a:t>Analysis </a:t>
            </a:r>
            <a:endParaRPr lang="en-IN" sz="3600" dirty="0">
              <a:latin typeface="Arial Rounded MT Bold" panose="020F0704030504030204" pitchFamily="34" charset="0"/>
            </a:endParaRPr>
          </a:p>
        </p:txBody>
      </p:sp>
      <p:sp>
        <p:nvSpPr>
          <p:cNvPr id="3" name="Subtitle 2"/>
          <p:cNvSpPr>
            <a:spLocks noGrp="1"/>
          </p:cNvSpPr>
          <p:nvPr>
            <p:ph type="subTitle" idx="1"/>
          </p:nvPr>
        </p:nvSpPr>
        <p:spPr>
          <a:xfrm>
            <a:off x="986744" y="3649345"/>
            <a:ext cx="11135348" cy="3016210"/>
          </a:xfrm>
        </p:spPr>
        <p:txBody>
          <a:bodyPr/>
          <a:lstStyle/>
          <a:p>
            <a:pPr algn="l"/>
            <a:r>
              <a:rPr lang="en-IN" sz="2000" kern="100" dirty="0">
                <a:effectLst/>
                <a:latin typeface="Times New Roman" panose="02020603050405020304" pitchFamily="18" charset="0"/>
                <a:ea typeface="Aptos"/>
                <a:cs typeface="Times New Roman" panose="02020603050405020304" pitchFamily="18" charset="0"/>
              </a:rPr>
              <a:t> Shock Absorber of spring </a:t>
            </a:r>
            <a:r>
              <a:rPr lang="en-IN" sz="2000" dirty="0">
                <a:effectLst/>
                <a:latin typeface="Times New Roman" panose="02020603050405020304" pitchFamily="18" charset="0"/>
                <a:ea typeface="Times New Roman" panose="02020603050405020304" pitchFamily="18" charset="0"/>
              </a:rPr>
              <a:t>Chrome silicon steel and </a:t>
            </a:r>
            <a:r>
              <a:rPr lang="en-IN" sz="2000" dirty="0">
                <a:effectLst/>
                <a:latin typeface="Times New Roman" panose="02020603050405020304" pitchFamily="18" charset="0"/>
                <a:ea typeface="Aptos"/>
              </a:rPr>
              <a:t> 65Si7 is </a:t>
            </a:r>
            <a:r>
              <a:rPr lang="en-IN" sz="2000" dirty="0"/>
              <a:t>0.011866 mm</a:t>
            </a:r>
            <a:endParaRPr lang="en-IN" sz="2000" dirty="0"/>
          </a:p>
          <a:p>
            <a:pPr algn="l"/>
            <a:endParaRPr lang="en-IN" sz="2000" dirty="0"/>
          </a:p>
          <a:p>
            <a:pPr marL="342900" indent="-342900" algn="l">
              <a:buFont typeface="Arial" panose="020B0604020202020204" pitchFamily="34" charset="0"/>
              <a:buChar char="•"/>
            </a:pPr>
            <a:r>
              <a:rPr lang="en-IN" sz="2800" dirty="0"/>
              <a:t>The load applied here is </a:t>
            </a:r>
            <a:r>
              <a:rPr lang="en-IN" sz="2800" dirty="0">
                <a:effectLst/>
                <a:latin typeface="Times New Roman" panose="02020603050405020304" pitchFamily="18" charset="0"/>
                <a:ea typeface="Times New Roman" panose="02020603050405020304" pitchFamily="18" charset="0"/>
              </a:rPr>
              <a:t>3435N</a:t>
            </a:r>
            <a:endParaRPr lang="en-IN" sz="2800" dirty="0">
              <a:effectLst/>
              <a:latin typeface="Times New Roman" panose="02020603050405020304" pitchFamily="18" charset="0"/>
              <a:ea typeface="Times New Roman" panose="02020603050405020304" pitchFamily="18" charset="0"/>
            </a:endParaRPr>
          </a:p>
          <a:p>
            <a:pPr marL="342900" indent="-342900" algn="l">
              <a:buFont typeface="Arial" panose="020B0604020202020204" pitchFamily="34" charset="0"/>
              <a:buChar char="•"/>
            </a:pPr>
            <a:endParaRPr lang="en-IN" sz="2800" dirty="0"/>
          </a:p>
          <a:p>
            <a:pPr algn="l"/>
            <a:r>
              <a:rPr lang="en-US" sz="2000" b="1" dirty="0"/>
              <a:t>Note:</a:t>
            </a:r>
            <a:r>
              <a:rPr lang="en-US" sz="2000" dirty="0"/>
              <a:t> Here, the material was changed only for the spring, while the default material for the other components was kept as structural steel, since our focus was mainly on the spring.</a:t>
            </a:r>
            <a:endParaRPr lang="en-US" sz="2000" dirty="0"/>
          </a:p>
          <a:p>
            <a:pPr algn="l"/>
            <a:endParaRPr lang="en-US" sz="2000" dirty="0"/>
          </a:p>
          <a:p>
            <a:pPr algn="l"/>
            <a:r>
              <a:rPr lang="en-US" sz="2000" dirty="0"/>
              <a:t>											          24</a:t>
            </a:r>
            <a:endParaRPr lang="en-US" sz="2000" dirty="0"/>
          </a:p>
          <a:p>
            <a:pPr algn="l"/>
            <a:r>
              <a:rPr lang="en-US" sz="2000" dirty="0"/>
              <a:t> 											        </a:t>
            </a:r>
            <a:endParaRPr lang="en-US" sz="2000" dirty="0"/>
          </a:p>
        </p:txBody>
      </p:sp>
      <p:pic>
        <p:nvPicPr>
          <p:cNvPr id="4" name="Picture 3"/>
          <p:cNvPicPr>
            <a:picLocks noChangeAspect="1"/>
          </p:cNvPicPr>
          <p:nvPr/>
        </p:nvPicPr>
        <p:blipFill>
          <a:blip r:embed="rId1"/>
          <a:stretch>
            <a:fillRect/>
          </a:stretch>
        </p:blipFill>
        <p:spPr>
          <a:xfrm>
            <a:off x="506776" y="1218075"/>
            <a:ext cx="4797968" cy="2511770"/>
          </a:xfrm>
          <a:prstGeom prst="rect">
            <a:avLst/>
          </a:prstGeom>
        </p:spPr>
      </p:pic>
      <p:pic>
        <p:nvPicPr>
          <p:cNvPr id="5" name="Picture 4"/>
          <p:cNvPicPr>
            <a:picLocks noChangeAspect="1"/>
          </p:cNvPicPr>
          <p:nvPr/>
        </p:nvPicPr>
        <p:blipFill>
          <a:blip r:embed="rId2"/>
          <a:stretch>
            <a:fillRect/>
          </a:stretch>
        </p:blipFill>
        <p:spPr>
          <a:xfrm>
            <a:off x="6162652" y="1376693"/>
            <a:ext cx="4505348" cy="2353152"/>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20800" y="172125"/>
            <a:ext cx="9144000" cy="553998"/>
          </a:xfrm>
        </p:spPr>
        <p:txBody>
          <a:bodyPr/>
          <a:lstStyle/>
          <a:p>
            <a:pPr algn="l"/>
            <a:r>
              <a:rPr lang="en-US" sz="3600" dirty="0">
                <a:latin typeface="Arial Rounded MT Bold" panose="020F0704030504030204" pitchFamily="34" charset="0"/>
              </a:rPr>
              <a:t>Analysis </a:t>
            </a:r>
            <a:endParaRPr lang="en-IN" sz="3600" dirty="0"/>
          </a:p>
        </p:txBody>
      </p:sp>
      <p:sp>
        <p:nvSpPr>
          <p:cNvPr id="3" name="Subtitle 2"/>
          <p:cNvSpPr>
            <a:spLocks noGrp="1"/>
          </p:cNvSpPr>
          <p:nvPr>
            <p:ph type="subTitle" idx="1"/>
          </p:nvPr>
        </p:nvSpPr>
        <p:spPr>
          <a:xfrm>
            <a:off x="523240" y="1153478"/>
            <a:ext cx="11435080" cy="7600927"/>
          </a:xfrm>
        </p:spPr>
        <p:txBody>
          <a:bodyPr/>
          <a:lstStyle/>
          <a:p>
            <a:pPr marL="342900" indent="-342900" algn="l">
              <a:buFont typeface="Arial" panose="020B0604020202020204" pitchFamily="34" charset="0"/>
              <a:buChar char="•"/>
            </a:pPr>
            <a:r>
              <a:rPr lang="en-IN" sz="2800" kern="100" dirty="0">
                <a:effectLst/>
                <a:latin typeface="Times New Roman" panose="02020603050405020304" pitchFamily="18" charset="0"/>
                <a:ea typeface="Aptos"/>
                <a:cs typeface="Times New Roman" panose="02020603050405020304" pitchFamily="18" charset="0"/>
              </a:rPr>
              <a:t>The forces applied to the individual components are considered together for the entire system, as shown below. These include the forces acting on the top of the shock absorber and on both the upper and lower control arms. The fixed supports remain the same as mentioned earlier, and the magnitude of the applied forces is also unchanged. Since the study focuses on the control arms and the spring, only the materials of these components were varied, while all other components were kept as the default material (structural steel)</a:t>
            </a:r>
            <a:endParaRPr lang="en-IN" sz="2800" kern="100" dirty="0">
              <a:effectLst/>
              <a:latin typeface="Times New Roman" panose="02020603050405020304" pitchFamily="18" charset="0"/>
              <a:ea typeface="Aptos"/>
              <a:cs typeface="Times New Roman" panose="02020603050405020304" pitchFamily="18" charset="0"/>
            </a:endParaRPr>
          </a:p>
          <a:p>
            <a:pPr marL="342900" indent="-342900" algn="l">
              <a:buFont typeface="Arial" panose="020B0604020202020204" pitchFamily="34" charset="0"/>
              <a:buChar char="•"/>
            </a:pPr>
            <a:endParaRPr lang="en-IN" sz="2800" kern="100" dirty="0">
              <a:effectLst/>
              <a:latin typeface="Times New Roman" panose="02020603050405020304" pitchFamily="18" charset="0"/>
              <a:ea typeface="Aptos"/>
              <a:cs typeface="Times New Roman" panose="02020603050405020304" pitchFamily="18" charset="0"/>
            </a:endParaRPr>
          </a:p>
          <a:p>
            <a:pPr marL="342900" indent="-342900" algn="l">
              <a:buFont typeface="Arial" panose="020B0604020202020204" pitchFamily="34" charset="0"/>
              <a:buChar char="•"/>
            </a:pPr>
            <a:r>
              <a:rPr lang="en-IN" sz="2800" kern="100" dirty="0">
                <a:latin typeface="Times New Roman" panose="02020603050405020304" pitchFamily="18" charset="0"/>
                <a:ea typeface="Aptos"/>
                <a:cs typeface="Times New Roman" panose="02020603050405020304" pitchFamily="18" charset="0"/>
              </a:rPr>
              <a:t>The force applied</a:t>
            </a:r>
            <a:endParaRPr lang="en-IN" sz="2800" kern="100" dirty="0">
              <a:latin typeface="Times New Roman" panose="02020603050405020304" pitchFamily="18" charset="0"/>
              <a:ea typeface="Aptos"/>
              <a:cs typeface="Times New Roman" panose="02020603050405020304" pitchFamily="18" charset="0"/>
            </a:endParaRPr>
          </a:p>
          <a:p>
            <a:pPr marL="800100" lvl="1" indent="-342900" algn="l">
              <a:buFont typeface="Arial" panose="020B0604020202020204" pitchFamily="34" charset="0"/>
              <a:buChar char="•"/>
            </a:pPr>
            <a:r>
              <a:rPr lang="en-IN" kern="100" dirty="0">
                <a:latin typeface="Times New Roman" panose="02020603050405020304" pitchFamily="18" charset="0"/>
                <a:ea typeface="Aptos"/>
                <a:cs typeface="Times New Roman" panose="02020603050405020304" pitchFamily="18" charset="0"/>
              </a:rPr>
              <a:t>Lower control arm – 2241N</a:t>
            </a:r>
            <a:endParaRPr lang="en-IN" kern="100" dirty="0">
              <a:latin typeface="Times New Roman" panose="02020603050405020304" pitchFamily="18" charset="0"/>
              <a:ea typeface="Aptos"/>
              <a:cs typeface="Times New Roman" panose="02020603050405020304" pitchFamily="18" charset="0"/>
            </a:endParaRPr>
          </a:p>
          <a:p>
            <a:pPr marL="800100" lvl="1" indent="-342900" algn="l">
              <a:buFont typeface="Arial" panose="020B0604020202020204" pitchFamily="34" charset="0"/>
              <a:buChar char="•"/>
            </a:pPr>
            <a:r>
              <a:rPr lang="en-IN" kern="100" dirty="0">
                <a:effectLst/>
                <a:latin typeface="Times New Roman" panose="02020603050405020304" pitchFamily="18" charset="0"/>
                <a:ea typeface="Aptos"/>
                <a:cs typeface="Times New Roman" panose="02020603050405020304" pitchFamily="18" charset="0"/>
              </a:rPr>
              <a:t>Upper control arm – 1494N</a:t>
            </a:r>
            <a:endParaRPr lang="en-IN" kern="100" dirty="0">
              <a:effectLst/>
              <a:latin typeface="Times New Roman" panose="02020603050405020304" pitchFamily="18" charset="0"/>
              <a:ea typeface="Aptos"/>
              <a:cs typeface="Times New Roman" panose="02020603050405020304" pitchFamily="18" charset="0"/>
            </a:endParaRPr>
          </a:p>
          <a:p>
            <a:pPr marL="800100" lvl="1" indent="-342900" algn="l">
              <a:buFont typeface="Arial" panose="020B0604020202020204" pitchFamily="34" charset="0"/>
              <a:buChar char="•"/>
            </a:pPr>
            <a:r>
              <a:rPr lang="en-IN" kern="100" dirty="0">
                <a:latin typeface="Times New Roman" panose="02020603050405020304" pitchFamily="18" charset="0"/>
                <a:ea typeface="Aptos"/>
                <a:cs typeface="Times New Roman" panose="02020603050405020304" pitchFamily="18" charset="0"/>
              </a:rPr>
              <a:t>Shock absorber      - 3435N                                                    					   </a:t>
            </a:r>
            <a:endParaRPr lang="en-IN" kern="100" dirty="0">
              <a:latin typeface="Times New Roman" panose="02020603050405020304" pitchFamily="18" charset="0"/>
              <a:ea typeface="Aptos"/>
              <a:cs typeface="Times New Roman" panose="02020603050405020304" pitchFamily="18" charset="0"/>
            </a:endParaRPr>
          </a:p>
          <a:p>
            <a:pPr lvl="8" algn="l"/>
            <a:r>
              <a:rPr lang="en-IN" kern="100" dirty="0">
                <a:latin typeface="Times New Roman" panose="02020603050405020304" pitchFamily="18" charset="0"/>
                <a:ea typeface="Aptos"/>
                <a:cs typeface="Times New Roman" panose="02020603050405020304" pitchFamily="18" charset="0"/>
              </a:rPr>
              <a:t>	`							</a:t>
            </a:r>
            <a:r>
              <a:rPr lang="en-IN" sz="2000" kern="100" dirty="0">
                <a:latin typeface="Times New Roman" panose="02020603050405020304" pitchFamily="18" charset="0"/>
                <a:ea typeface="Aptos"/>
                <a:cs typeface="Times New Roman" panose="02020603050405020304" pitchFamily="18" charset="0"/>
              </a:rPr>
              <a:t>   25</a:t>
            </a:r>
            <a:endParaRPr lang="en-IN" sz="2000" kern="100" dirty="0">
              <a:effectLst/>
              <a:latin typeface="Times New Roman" panose="02020603050405020304" pitchFamily="18" charset="0"/>
              <a:ea typeface="Aptos"/>
              <a:cs typeface="Times New Roman" panose="02020603050405020304" pitchFamily="18" charset="0"/>
            </a:endParaRPr>
          </a:p>
          <a:p>
            <a:pPr marL="342900" indent="-342900" algn="l">
              <a:buFont typeface="Arial" panose="020B0604020202020204" pitchFamily="34" charset="0"/>
              <a:buChar char="•"/>
            </a:pPr>
            <a:endParaRPr lang="en-IN" sz="2800" kern="100" dirty="0">
              <a:latin typeface="Times New Roman" panose="02020603050405020304" pitchFamily="18" charset="0"/>
              <a:ea typeface="Aptos"/>
              <a:cs typeface="Times New Roman" panose="02020603050405020304" pitchFamily="18" charset="0"/>
            </a:endParaRPr>
          </a:p>
          <a:p>
            <a:pPr>
              <a:lnSpc>
                <a:spcPct val="107000"/>
              </a:lnSpc>
              <a:spcAft>
                <a:spcPts val="800"/>
              </a:spcAft>
            </a:pPr>
            <a:r>
              <a:rPr lang="en-IN" sz="18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2800" kern="100" dirty="0">
              <a:effectLst/>
              <a:latin typeface="Times New Roman" panose="02020603050405020304" pitchFamily="18" charset="0"/>
              <a:ea typeface="Aptos"/>
              <a:cs typeface="Times New Roman" panose="02020603050405020304" pitchFamily="18" charset="0"/>
            </a:endParaRPr>
          </a:p>
          <a:p>
            <a:pPr marL="342900" indent="-342900" algn="l">
              <a:buFont typeface="Arial" panose="020B0604020202020204" pitchFamily="34" charset="0"/>
              <a:buChar char="•"/>
            </a:pPr>
            <a:endParaRPr lang="en-IN" sz="2800" kern="100" dirty="0">
              <a:latin typeface="Times New Roman" panose="02020603050405020304" pitchFamily="18" charset="0"/>
              <a:ea typeface="Aptos"/>
              <a:cs typeface="Times New Roman" panose="02020603050405020304" pitchFamily="18" charset="0"/>
            </a:endParaRPr>
          </a:p>
          <a:p>
            <a:pPr algn="l"/>
            <a:r>
              <a:rPr lang="en-IN" sz="2800" kern="100" dirty="0">
                <a:latin typeface="Times New Roman" panose="02020603050405020304" pitchFamily="18" charset="0"/>
                <a:ea typeface="Aptos"/>
                <a:cs typeface="Times New Roman" panose="02020603050405020304" pitchFamily="18" charset="0"/>
              </a:rPr>
              <a:t>												</a:t>
            </a:r>
            <a:r>
              <a:rPr lang="en-IN" sz="2000" kern="100" dirty="0">
                <a:effectLst/>
                <a:latin typeface="Times New Roman" panose="02020603050405020304" pitchFamily="18" charset="0"/>
                <a:ea typeface="Aptos"/>
                <a:cs typeface="Times New Roman" panose="02020603050405020304" pitchFamily="18" charset="0"/>
              </a:rPr>
              <a:t>	</a:t>
            </a:r>
            <a:r>
              <a:rPr lang="en-IN" sz="2800" kern="100" dirty="0">
                <a:effectLst/>
                <a:latin typeface="Times New Roman" panose="02020603050405020304" pitchFamily="18" charset="0"/>
                <a:ea typeface="Aptos"/>
                <a:cs typeface="Times New Roman" panose="02020603050405020304" pitchFamily="18" charset="0"/>
              </a:rPr>
              <a:t> </a:t>
            </a:r>
            <a:endParaRPr lang="en-IN" sz="2000" kern="100" dirty="0">
              <a:effectLst/>
              <a:latin typeface="Aptos"/>
              <a:ea typeface="Aptos"/>
              <a:cs typeface="Times New Roman" panose="02020603050405020304" pitchFamily="18" charset="0"/>
            </a:endParaRPr>
          </a:p>
          <a:p>
            <a:pPr marL="342900" indent="-342900" algn="l">
              <a:buFont typeface="Arial" panose="020B0604020202020204" pitchFamily="34" charset="0"/>
              <a:buChar char="•"/>
            </a:pPr>
            <a:endParaRPr lang="en-IN"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9356" y="205626"/>
            <a:ext cx="7216987" cy="430887"/>
          </a:xfrm>
        </p:spPr>
        <p:txBody>
          <a:bodyPr/>
          <a:lstStyle/>
          <a:p>
            <a:pPr algn="l"/>
            <a:r>
              <a:rPr lang="en-US" sz="3600" dirty="0">
                <a:latin typeface="Arial Rounded MT Bold" panose="020F0704030504030204" pitchFamily="34" charset="0"/>
              </a:rPr>
              <a:t>Analysis</a:t>
            </a:r>
            <a:endParaRPr lang="en-IN" sz="3600" dirty="0"/>
          </a:p>
        </p:txBody>
      </p:sp>
      <p:sp>
        <p:nvSpPr>
          <p:cNvPr id="3" name="Subtitle 2"/>
          <p:cNvSpPr>
            <a:spLocks noGrp="1"/>
          </p:cNvSpPr>
          <p:nvPr>
            <p:ph sz="half" idx="2"/>
          </p:nvPr>
        </p:nvSpPr>
        <p:spPr>
          <a:xfrm>
            <a:off x="6309360" y="1064340"/>
            <a:ext cx="5730736" cy="5689634"/>
          </a:xfrm>
        </p:spPr>
        <p:txBody>
          <a:bodyPr/>
          <a:lstStyle/>
          <a:p>
            <a:pPr algn="just">
              <a:lnSpc>
                <a:spcPct val="107000"/>
              </a:lnSpc>
              <a:spcAft>
                <a:spcPts val="800"/>
              </a:spcAft>
            </a:pPr>
            <a:r>
              <a:rPr lang="en-IN" sz="18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2400" kern="100" dirty="0">
              <a:effectLst/>
              <a:latin typeface="Aptos"/>
              <a:ea typeface="Aptos"/>
              <a:cs typeface="Times New Roman" panose="02020603050405020304" pitchFamily="18" charset="0"/>
            </a:endParaRPr>
          </a:p>
          <a:p>
            <a:pPr algn="just">
              <a:lnSpc>
                <a:spcPct val="107000"/>
              </a:lnSpc>
              <a:spcAft>
                <a:spcPts val="800"/>
              </a:spcAft>
            </a:pPr>
            <a:r>
              <a:rPr lang="en-US" sz="2400" kern="100" dirty="0">
                <a:effectLst/>
                <a:latin typeface="Times New Roman" panose="02020603050405020304" pitchFamily="18" charset="0"/>
                <a:ea typeface="Times New Roman" panose="02020603050405020304" pitchFamily="18" charset="0"/>
                <a:cs typeface="Times New Roman" panose="02020603050405020304" pitchFamily="18" charset="0"/>
              </a:rPr>
              <a:t>Total deformation</a:t>
            </a:r>
            <a:endParaRPr lang="en-IN" sz="2400" kern="100" dirty="0">
              <a:effectLst/>
              <a:latin typeface="Aptos"/>
              <a:ea typeface="Aptos"/>
              <a:cs typeface="Times New Roman" panose="02020603050405020304" pitchFamily="18" charset="0"/>
            </a:endParaRPr>
          </a:p>
          <a:p>
            <a:pPr algn="just">
              <a:lnSpc>
                <a:spcPct val="107000"/>
              </a:lnSpc>
              <a:spcAft>
                <a:spcPts val="800"/>
              </a:spcAft>
            </a:pPr>
            <a:r>
              <a:rPr lang="en-US" sz="2400" kern="100" dirty="0">
                <a:effectLst/>
                <a:latin typeface="Times New Roman" panose="02020603050405020304" pitchFamily="18" charset="0"/>
                <a:ea typeface="Times New Roman" panose="02020603050405020304" pitchFamily="18" charset="0"/>
                <a:cs typeface="Times New Roman" panose="02020603050405020304" pitchFamily="18" charset="0"/>
              </a:rPr>
              <a:t>Max deformation: 0.0119mm </a:t>
            </a:r>
            <a:endParaRPr lang="en-IN" sz="2400" kern="100" dirty="0">
              <a:effectLst/>
              <a:latin typeface="Aptos"/>
              <a:ea typeface="Aptos"/>
              <a:cs typeface="Times New Roman" panose="02020603050405020304" pitchFamily="18" charset="0"/>
            </a:endParaRPr>
          </a:p>
          <a:p>
            <a:pPr algn="just">
              <a:lnSpc>
                <a:spcPct val="107000"/>
              </a:lnSpc>
              <a:spcAft>
                <a:spcPts val="800"/>
              </a:spcAft>
            </a:pPr>
            <a:r>
              <a:rPr lang="en-US" sz="2400" kern="100" dirty="0">
                <a:effectLst/>
                <a:latin typeface="Times New Roman" panose="02020603050405020304" pitchFamily="18" charset="0"/>
                <a:ea typeface="Times New Roman" panose="02020603050405020304" pitchFamily="18" charset="0"/>
                <a:cs typeface="Times New Roman" panose="02020603050405020304" pitchFamily="18" charset="0"/>
              </a:rPr>
              <a:t>Min deformation:  0.00132mm</a:t>
            </a:r>
            <a:endParaRPr lang="en-IN" sz="2400" kern="100" dirty="0">
              <a:effectLst/>
              <a:latin typeface="Aptos"/>
              <a:ea typeface="Aptos"/>
              <a:cs typeface="Times New Roman" panose="02020603050405020304" pitchFamily="18" charset="0"/>
            </a:endParaRPr>
          </a:p>
          <a:p>
            <a:pPr algn="just">
              <a:lnSpc>
                <a:spcPct val="107000"/>
              </a:lnSpc>
              <a:spcAft>
                <a:spcPts val="800"/>
              </a:spcAft>
            </a:pPr>
            <a:r>
              <a:rPr lang="en-IN" sz="24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2400" kern="100" dirty="0">
              <a:effectLst/>
              <a:latin typeface="Aptos"/>
              <a:ea typeface="Aptos"/>
              <a:cs typeface="Times New Roman" panose="02020603050405020304" pitchFamily="18" charset="0"/>
            </a:endParaRPr>
          </a:p>
          <a:p>
            <a:pPr algn="just">
              <a:lnSpc>
                <a:spcPct val="107000"/>
              </a:lnSpc>
              <a:spcAft>
                <a:spcPts val="800"/>
              </a:spcAft>
            </a:pPr>
            <a:r>
              <a:rPr lang="en-US" sz="2400" kern="100" dirty="0">
                <a:effectLst/>
                <a:latin typeface="Times New Roman" panose="02020603050405020304" pitchFamily="18" charset="0"/>
                <a:ea typeface="Times New Roman" panose="02020603050405020304" pitchFamily="18" charset="0"/>
                <a:cs typeface="Times New Roman" panose="02020603050405020304" pitchFamily="18" charset="0"/>
              </a:rPr>
              <a:t>Equivalent Stress</a:t>
            </a:r>
            <a:endParaRPr lang="en-IN" sz="2400" kern="100" dirty="0">
              <a:effectLst/>
              <a:latin typeface="Aptos"/>
              <a:ea typeface="Aptos"/>
              <a:cs typeface="Times New Roman" panose="02020603050405020304" pitchFamily="18" charset="0"/>
            </a:endParaRPr>
          </a:p>
          <a:p>
            <a:pPr algn="just">
              <a:lnSpc>
                <a:spcPct val="107000"/>
              </a:lnSpc>
              <a:spcAft>
                <a:spcPts val="800"/>
              </a:spcAft>
            </a:pPr>
            <a:r>
              <a:rPr lang="en-US" sz="2400" kern="100" dirty="0">
                <a:effectLst/>
                <a:latin typeface="Times New Roman" panose="02020603050405020304" pitchFamily="18" charset="0"/>
                <a:ea typeface="Times New Roman" panose="02020603050405020304" pitchFamily="18" charset="0"/>
                <a:cs typeface="Times New Roman" panose="02020603050405020304" pitchFamily="18" charset="0"/>
              </a:rPr>
              <a:t>Max stress: 10.56 N/mm^2</a:t>
            </a:r>
            <a:endParaRPr lang="en-IN" sz="2400" kern="100" dirty="0">
              <a:effectLst/>
              <a:latin typeface="Aptos"/>
              <a:ea typeface="Aptos"/>
              <a:cs typeface="Times New Roman" panose="02020603050405020304" pitchFamily="18" charset="0"/>
            </a:endParaRPr>
          </a:p>
          <a:p>
            <a:pPr algn="just">
              <a:lnSpc>
                <a:spcPct val="107000"/>
              </a:lnSpc>
              <a:spcAft>
                <a:spcPts val="800"/>
              </a:spcAft>
            </a:pPr>
            <a:r>
              <a:rPr lang="en-US" sz="2400" kern="100" dirty="0">
                <a:effectLst/>
                <a:latin typeface="Times New Roman" panose="02020603050405020304" pitchFamily="18" charset="0"/>
                <a:ea typeface="Times New Roman" panose="02020603050405020304" pitchFamily="18" charset="0"/>
                <a:cs typeface="Times New Roman" panose="02020603050405020304" pitchFamily="18" charset="0"/>
              </a:rPr>
              <a:t>Min stress: 1. 173 N/mm^2</a:t>
            </a:r>
            <a:endParaRPr lang="en-US" sz="2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07000"/>
              </a:lnSpc>
              <a:spcAft>
                <a:spcPts val="800"/>
              </a:spcAft>
            </a:pPr>
            <a:endParaRPr lang="en-US" sz="2400" kern="100" dirty="0">
              <a:latin typeface="Times New Roman" panose="02020603050405020304" pitchFamily="18" charset="0"/>
              <a:ea typeface="Aptos"/>
              <a:cs typeface="Times New Roman" panose="02020603050405020304" pitchFamily="18" charset="0"/>
            </a:endParaRPr>
          </a:p>
          <a:p>
            <a:pPr algn="just">
              <a:lnSpc>
                <a:spcPct val="107000"/>
              </a:lnSpc>
              <a:spcAft>
                <a:spcPts val="800"/>
              </a:spcAft>
            </a:pPr>
            <a:endParaRPr lang="en-US" sz="2400" kern="100" dirty="0">
              <a:latin typeface="Times New Roman" panose="02020603050405020304" pitchFamily="18" charset="0"/>
              <a:ea typeface="Aptos"/>
              <a:cs typeface="Times New Roman" panose="02020603050405020304" pitchFamily="18" charset="0"/>
            </a:endParaRPr>
          </a:p>
          <a:p>
            <a:pPr algn="just">
              <a:lnSpc>
                <a:spcPct val="107000"/>
              </a:lnSpc>
              <a:spcAft>
                <a:spcPts val="800"/>
              </a:spcAft>
            </a:pPr>
            <a:r>
              <a:rPr lang="en-IN" sz="2400" kern="100" dirty="0">
                <a:effectLst/>
                <a:latin typeface="Aptos"/>
                <a:ea typeface="Aptos"/>
                <a:cs typeface="Times New Roman" panose="02020603050405020304" pitchFamily="18" charset="0"/>
              </a:rPr>
              <a:t>					</a:t>
            </a:r>
            <a:r>
              <a:rPr lang="en-IN" kern="100" dirty="0">
                <a:effectLst/>
                <a:latin typeface="Aptos"/>
                <a:ea typeface="Aptos"/>
                <a:cs typeface="Times New Roman" panose="02020603050405020304" pitchFamily="18" charset="0"/>
              </a:rPr>
              <a:t>           26</a:t>
            </a:r>
            <a:endParaRPr lang="en-IN" kern="100" dirty="0">
              <a:effectLst/>
              <a:latin typeface="Aptos"/>
              <a:ea typeface="Aptos"/>
              <a:cs typeface="Times New Roman" panose="02020603050405020304" pitchFamily="18" charset="0"/>
            </a:endParaRPr>
          </a:p>
          <a:p>
            <a:pPr algn="just">
              <a:lnSpc>
                <a:spcPct val="107000"/>
              </a:lnSpc>
              <a:spcAft>
                <a:spcPts val="800"/>
              </a:spcAft>
            </a:pPr>
            <a:r>
              <a:rPr lang="en-US" kern="1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kern="100" dirty="0">
              <a:effectLst/>
              <a:latin typeface="Aptos"/>
              <a:ea typeface="Aptos"/>
              <a:cs typeface="Times New Roman" panose="02020603050405020304" pitchFamily="18" charset="0"/>
            </a:endParaRPr>
          </a:p>
        </p:txBody>
      </p:sp>
      <p:sp>
        <p:nvSpPr>
          <p:cNvPr id="5" name="Content Placeholder 4"/>
          <p:cNvSpPr>
            <a:spLocks noGrp="1"/>
          </p:cNvSpPr>
          <p:nvPr>
            <p:ph sz="half" idx="3"/>
          </p:nvPr>
        </p:nvSpPr>
        <p:spPr>
          <a:xfrm>
            <a:off x="668889" y="5205824"/>
            <a:ext cx="5303520" cy="1231106"/>
          </a:xfrm>
        </p:spPr>
        <p:txBody>
          <a:bodyPr/>
          <a:lstStyle/>
          <a:p>
            <a:r>
              <a:rPr lang="en-US" dirty="0"/>
              <a:t>Combination of AA6061-T6 and Chrome Silicon Steel</a:t>
            </a:r>
            <a:endParaRPr lang="en-IN" dirty="0"/>
          </a:p>
          <a:p>
            <a:r>
              <a:rPr lang="en-US" dirty="0"/>
              <a:t> </a:t>
            </a:r>
            <a:endParaRPr lang="en-IN" dirty="0"/>
          </a:p>
          <a:p>
            <a:endParaRPr lang="en-IN" dirty="0"/>
          </a:p>
        </p:txBody>
      </p:sp>
      <p:pic>
        <p:nvPicPr>
          <p:cNvPr id="6" name="Picture 5"/>
          <p:cNvPicPr>
            <a:picLocks noChangeAspect="1"/>
          </p:cNvPicPr>
          <p:nvPr/>
        </p:nvPicPr>
        <p:blipFill>
          <a:blip r:embed="rId1"/>
          <a:stretch>
            <a:fillRect/>
          </a:stretch>
        </p:blipFill>
        <p:spPr>
          <a:xfrm>
            <a:off x="375920" y="1242522"/>
            <a:ext cx="5730737" cy="3634278"/>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9356" y="156002"/>
            <a:ext cx="7216987" cy="553998"/>
          </a:xfrm>
        </p:spPr>
        <p:txBody>
          <a:bodyPr/>
          <a:lstStyle/>
          <a:p>
            <a:pPr algn="l"/>
            <a:r>
              <a:rPr lang="en-US" sz="3600" dirty="0">
                <a:latin typeface="Arial Rounded MT Bold" panose="020F0704030504030204" pitchFamily="34" charset="0"/>
              </a:rPr>
              <a:t>Analysis</a:t>
            </a:r>
            <a:endParaRPr lang="en-IN" sz="3600" dirty="0"/>
          </a:p>
        </p:txBody>
      </p:sp>
      <p:sp>
        <p:nvSpPr>
          <p:cNvPr id="3" name="Content Placeholder 2"/>
          <p:cNvSpPr>
            <a:spLocks noGrp="1"/>
          </p:cNvSpPr>
          <p:nvPr>
            <p:ph sz="half" idx="2"/>
          </p:nvPr>
        </p:nvSpPr>
        <p:spPr>
          <a:xfrm>
            <a:off x="521817" y="5031740"/>
            <a:ext cx="5303520" cy="615553"/>
          </a:xfrm>
        </p:spPr>
        <p:txBody>
          <a:bodyPr/>
          <a:lstStyle/>
          <a:p>
            <a:r>
              <a:rPr lang="en-US" dirty="0"/>
              <a:t>Combination of AISI4130</a:t>
            </a:r>
            <a:r>
              <a:rPr lang="en-IN" dirty="0"/>
              <a:t> and </a:t>
            </a:r>
            <a:r>
              <a:rPr lang="en-US" dirty="0"/>
              <a:t>65Si7</a:t>
            </a:r>
            <a:endParaRPr lang="en-IN" dirty="0"/>
          </a:p>
          <a:p>
            <a:endParaRPr lang="en-IN" dirty="0"/>
          </a:p>
        </p:txBody>
      </p:sp>
      <p:sp>
        <p:nvSpPr>
          <p:cNvPr id="4" name="Content Placeholder 3"/>
          <p:cNvSpPr>
            <a:spLocks noGrp="1"/>
          </p:cNvSpPr>
          <p:nvPr>
            <p:ph sz="half" idx="3"/>
          </p:nvPr>
        </p:nvSpPr>
        <p:spPr>
          <a:xfrm>
            <a:off x="6065542" y="1731228"/>
            <a:ext cx="6045177" cy="4507012"/>
          </a:xfrm>
        </p:spPr>
        <p:txBody>
          <a:bodyPr/>
          <a:lstStyle/>
          <a:p>
            <a:pPr algn="just">
              <a:lnSpc>
                <a:spcPct val="107000"/>
              </a:lnSpc>
              <a:spcAft>
                <a:spcPts val="800"/>
              </a:spcAft>
            </a:pPr>
            <a:r>
              <a:rPr lang="en-US" sz="2400" kern="100" dirty="0">
                <a:effectLst/>
                <a:latin typeface="Times New Roman" panose="02020603050405020304" pitchFamily="18" charset="0"/>
                <a:ea typeface="Times New Roman" panose="02020603050405020304" pitchFamily="18" charset="0"/>
                <a:cs typeface="Times New Roman" panose="02020603050405020304" pitchFamily="18" charset="0"/>
              </a:rPr>
              <a:t>Total deformation</a:t>
            </a:r>
            <a:endParaRPr lang="en-IN" sz="2400" kern="100" dirty="0">
              <a:effectLst/>
              <a:latin typeface="Aptos"/>
              <a:ea typeface="Aptos"/>
              <a:cs typeface="Times New Roman" panose="02020603050405020304" pitchFamily="18" charset="0"/>
            </a:endParaRPr>
          </a:p>
          <a:p>
            <a:pPr algn="just">
              <a:lnSpc>
                <a:spcPct val="107000"/>
              </a:lnSpc>
              <a:spcAft>
                <a:spcPts val="800"/>
              </a:spcAft>
            </a:pPr>
            <a:r>
              <a:rPr lang="en-US" sz="2400" kern="100" dirty="0">
                <a:effectLst/>
                <a:latin typeface="Times New Roman" panose="02020603050405020304" pitchFamily="18" charset="0"/>
                <a:ea typeface="Times New Roman" panose="02020603050405020304" pitchFamily="18" charset="0"/>
                <a:cs typeface="Times New Roman" panose="02020603050405020304" pitchFamily="18" charset="0"/>
              </a:rPr>
              <a:t>Max deformation:  0.011884mm</a:t>
            </a:r>
            <a:endParaRPr lang="en-IN" sz="2400" kern="100" dirty="0">
              <a:effectLst/>
              <a:latin typeface="Aptos"/>
              <a:ea typeface="Aptos"/>
              <a:cs typeface="Times New Roman" panose="02020603050405020304" pitchFamily="18" charset="0"/>
            </a:endParaRPr>
          </a:p>
          <a:p>
            <a:pPr algn="just">
              <a:lnSpc>
                <a:spcPct val="107000"/>
              </a:lnSpc>
              <a:spcAft>
                <a:spcPts val="800"/>
              </a:spcAft>
            </a:pPr>
            <a:r>
              <a:rPr lang="en-US" sz="2400" kern="100" dirty="0">
                <a:effectLst/>
                <a:latin typeface="Times New Roman" panose="02020603050405020304" pitchFamily="18" charset="0"/>
                <a:ea typeface="Times New Roman" panose="02020603050405020304" pitchFamily="18" charset="0"/>
                <a:cs typeface="Times New Roman" panose="02020603050405020304" pitchFamily="18" charset="0"/>
              </a:rPr>
              <a:t>Min deformation: 0.0013205mm</a:t>
            </a:r>
            <a:endParaRPr lang="en-IN" sz="2400" kern="100" dirty="0">
              <a:effectLst/>
              <a:latin typeface="Aptos"/>
              <a:ea typeface="Aptos"/>
              <a:cs typeface="Times New Roman" panose="02020603050405020304" pitchFamily="18" charset="0"/>
            </a:endParaRPr>
          </a:p>
          <a:p>
            <a:pPr algn="just">
              <a:lnSpc>
                <a:spcPct val="107000"/>
              </a:lnSpc>
              <a:spcAft>
                <a:spcPts val="800"/>
              </a:spcAft>
            </a:pPr>
            <a:r>
              <a:rPr lang="en-IN" sz="2400" b="1" kern="100" dirty="0">
                <a:effectLst/>
                <a:latin typeface="Times New Roman" panose="02020603050405020304" pitchFamily="18" charset="0"/>
                <a:ea typeface="Aptos"/>
                <a:cs typeface="Times New Roman" panose="02020603050405020304" pitchFamily="18" charset="0"/>
              </a:rPr>
              <a:t> </a:t>
            </a:r>
            <a:endParaRPr lang="en-IN" sz="2400" kern="100" dirty="0">
              <a:effectLst/>
              <a:latin typeface="Aptos"/>
              <a:ea typeface="Aptos"/>
              <a:cs typeface="Times New Roman" panose="02020603050405020304" pitchFamily="18" charset="0"/>
            </a:endParaRPr>
          </a:p>
          <a:p>
            <a:pPr algn="just">
              <a:lnSpc>
                <a:spcPct val="107000"/>
              </a:lnSpc>
              <a:spcAft>
                <a:spcPts val="800"/>
              </a:spcAft>
            </a:pPr>
            <a:r>
              <a:rPr lang="en-US" sz="2400" kern="100" dirty="0">
                <a:effectLst/>
                <a:latin typeface="Times New Roman" panose="02020603050405020304" pitchFamily="18" charset="0"/>
                <a:ea typeface="Times New Roman" panose="02020603050405020304" pitchFamily="18" charset="0"/>
                <a:cs typeface="Times New Roman" panose="02020603050405020304" pitchFamily="18" charset="0"/>
              </a:rPr>
              <a:t>Equivalent Stress</a:t>
            </a:r>
            <a:endParaRPr lang="en-IN" sz="2400" kern="100" dirty="0">
              <a:effectLst/>
              <a:latin typeface="Aptos"/>
              <a:ea typeface="Aptos"/>
              <a:cs typeface="Times New Roman" panose="02020603050405020304" pitchFamily="18" charset="0"/>
            </a:endParaRPr>
          </a:p>
          <a:p>
            <a:pPr algn="just">
              <a:lnSpc>
                <a:spcPct val="107000"/>
              </a:lnSpc>
              <a:spcAft>
                <a:spcPts val="800"/>
              </a:spcAft>
            </a:pPr>
            <a:r>
              <a:rPr lang="en-US" sz="2400" kern="100" dirty="0">
                <a:effectLst/>
                <a:latin typeface="Times New Roman" panose="02020603050405020304" pitchFamily="18" charset="0"/>
                <a:ea typeface="Times New Roman" panose="02020603050405020304" pitchFamily="18" charset="0"/>
                <a:cs typeface="Times New Roman" panose="02020603050405020304" pitchFamily="18" charset="0"/>
              </a:rPr>
              <a:t>Max stress: 10.556 N/mm^2</a:t>
            </a:r>
            <a:endParaRPr lang="en-IN" sz="2400" kern="100" dirty="0">
              <a:effectLst/>
              <a:latin typeface="Aptos"/>
              <a:ea typeface="Aptos"/>
              <a:cs typeface="Times New Roman" panose="02020603050405020304" pitchFamily="18" charset="0"/>
            </a:endParaRPr>
          </a:p>
          <a:p>
            <a:pPr algn="just">
              <a:lnSpc>
                <a:spcPct val="107000"/>
              </a:lnSpc>
              <a:spcAft>
                <a:spcPts val="800"/>
              </a:spcAft>
            </a:pPr>
            <a:r>
              <a:rPr lang="en-US" sz="2400" kern="100" dirty="0">
                <a:effectLst/>
                <a:latin typeface="Times New Roman" panose="02020603050405020304" pitchFamily="18" charset="0"/>
                <a:ea typeface="Times New Roman" panose="02020603050405020304" pitchFamily="18" charset="0"/>
                <a:cs typeface="Times New Roman" panose="02020603050405020304" pitchFamily="18" charset="0"/>
              </a:rPr>
              <a:t>Min stress:1.1729 N/mm^2</a:t>
            </a:r>
            <a:endParaRPr lang="en-IN" sz="2400" kern="100" dirty="0">
              <a:effectLst/>
              <a:latin typeface="Aptos"/>
              <a:ea typeface="Aptos"/>
              <a:cs typeface="Times New Roman" panose="02020603050405020304" pitchFamily="18" charset="0"/>
            </a:endParaRPr>
          </a:p>
          <a:p>
            <a:pPr algn="just">
              <a:lnSpc>
                <a:spcPct val="107000"/>
              </a:lnSpc>
              <a:spcAft>
                <a:spcPts val="800"/>
              </a:spcAft>
            </a:pPr>
            <a:r>
              <a:rPr 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800" kern="100" dirty="0">
              <a:effectLst/>
              <a:latin typeface="Aptos"/>
              <a:ea typeface="Aptos"/>
              <a:cs typeface="Times New Roman" panose="02020603050405020304" pitchFamily="18" charset="0"/>
            </a:endParaRPr>
          </a:p>
          <a:p>
            <a:endParaRPr lang="en-IN" dirty="0"/>
          </a:p>
          <a:p>
            <a:r>
              <a:rPr lang="en-IN" dirty="0"/>
              <a:t>						  27</a:t>
            </a:r>
            <a:endParaRPr lang="en-IN" dirty="0"/>
          </a:p>
        </p:txBody>
      </p:sp>
      <p:pic>
        <p:nvPicPr>
          <p:cNvPr id="5" name="Picture 4"/>
          <p:cNvPicPr>
            <a:picLocks noChangeAspect="1"/>
          </p:cNvPicPr>
          <p:nvPr/>
        </p:nvPicPr>
        <p:blipFill>
          <a:blip r:embed="rId1"/>
          <a:stretch>
            <a:fillRect/>
          </a:stretch>
        </p:blipFill>
        <p:spPr>
          <a:xfrm>
            <a:off x="368920" y="1731228"/>
            <a:ext cx="5456417" cy="3049138"/>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1347916" y="135682"/>
            <a:ext cx="7216987" cy="553998"/>
          </a:xfrm>
        </p:spPr>
        <p:txBody>
          <a:bodyPr/>
          <a:lstStyle/>
          <a:p>
            <a:r>
              <a:rPr lang="en-US" sz="3600" dirty="0">
                <a:latin typeface="Arial Rounded MT Bold" panose="020F0704030504030204" pitchFamily="34" charset="0"/>
              </a:rPr>
              <a:t>Results</a:t>
            </a:r>
            <a:endParaRPr lang="en-IN" sz="3600" dirty="0">
              <a:latin typeface="Arial Rounded MT Bold" panose="020F0704030504030204" pitchFamily="34" charset="0"/>
            </a:endParaRPr>
          </a:p>
        </p:txBody>
      </p:sp>
      <p:sp>
        <p:nvSpPr>
          <p:cNvPr id="8" name="Text Placeholder 7"/>
          <p:cNvSpPr>
            <a:spLocks noGrp="1"/>
          </p:cNvSpPr>
          <p:nvPr>
            <p:ph type="body" idx="1"/>
          </p:nvPr>
        </p:nvSpPr>
        <p:spPr>
          <a:xfrm>
            <a:off x="450426" y="1425247"/>
            <a:ext cx="11609494" cy="7667740"/>
          </a:xfrm>
        </p:spPr>
        <p:txBody>
          <a:bodyPr/>
          <a:lstStyle/>
          <a:p>
            <a:pPr marL="457200" indent="-457200">
              <a:lnSpc>
                <a:spcPct val="107000"/>
              </a:lnSpc>
              <a:spcAft>
                <a:spcPts val="800"/>
              </a:spcAft>
              <a:buFont typeface="Arial" panose="020B0604020202020204" pitchFamily="34" charset="0"/>
              <a:buChar char="•"/>
            </a:pPr>
            <a:r>
              <a:rPr lang="en-IN" sz="2800" kern="100" dirty="0">
                <a:effectLst/>
                <a:latin typeface="Times New Roman" panose="02020603050405020304" pitchFamily="18" charset="0"/>
                <a:ea typeface="Times New Roman" panose="02020603050405020304" pitchFamily="18" charset="0"/>
                <a:cs typeface="Times New Roman" panose="02020603050405020304" pitchFamily="18" charset="0"/>
              </a:rPr>
              <a:t>Both material combinations show almost identical deformation values because we changed only the components we are focusing  but others are default material(structural steel).</a:t>
            </a:r>
            <a:endParaRPr lang="en-IN" sz="28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nSpc>
                <a:spcPct val="107000"/>
              </a:lnSpc>
              <a:spcAft>
                <a:spcPts val="800"/>
              </a:spcAft>
            </a:pPr>
            <a:r>
              <a:rPr lang="en-IN" sz="2800" kern="100" dirty="0" err="1">
                <a:latin typeface="Times New Roman" panose="02020603050405020304" pitchFamily="18" charset="0"/>
                <a:ea typeface="Times New Roman" panose="02020603050405020304" pitchFamily="18" charset="0"/>
                <a:cs typeface="Times New Roman" panose="02020603050405020304" pitchFamily="18" charset="0"/>
              </a:rPr>
              <a:t>Comparsion</a:t>
            </a:r>
            <a:r>
              <a:rPr lang="en-IN" sz="2800" kern="100" dirty="0">
                <a:latin typeface="Times New Roman" panose="02020603050405020304" pitchFamily="18" charset="0"/>
                <a:ea typeface="Times New Roman" panose="02020603050405020304" pitchFamily="18" charset="0"/>
                <a:cs typeface="Times New Roman" panose="02020603050405020304" pitchFamily="18" charset="0"/>
              </a:rPr>
              <a:t> &amp;</a:t>
            </a:r>
            <a:r>
              <a:rPr lang="en-IN" sz="1800" b="1"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kern="100" dirty="0">
                <a:effectLst/>
                <a:latin typeface="Times New Roman" panose="02020603050405020304" pitchFamily="18" charset="0"/>
                <a:ea typeface="Times New Roman" panose="02020603050405020304" pitchFamily="18" charset="0"/>
                <a:cs typeface="Times New Roman" panose="02020603050405020304" pitchFamily="18" charset="0"/>
              </a:rPr>
              <a:t>Interpretation </a:t>
            </a:r>
            <a:endParaRPr lang="en-IN" sz="2800" kern="100" dirty="0">
              <a:latin typeface="Times New Roman" panose="02020603050405020304" pitchFamily="18" charset="0"/>
              <a:ea typeface="Times New Roman" panose="02020603050405020304" pitchFamily="18" charset="0"/>
              <a:cs typeface="Times New Roman" panose="02020603050405020304" pitchFamily="18" charset="0"/>
            </a:endParaRPr>
          </a:p>
          <a:p>
            <a:pPr>
              <a:lnSpc>
                <a:spcPct val="107000"/>
              </a:lnSpc>
              <a:spcAft>
                <a:spcPts val="800"/>
              </a:spcAft>
            </a:pPr>
            <a:endParaRPr lang="en-IN" sz="2400" kern="100" dirty="0">
              <a:effectLst/>
              <a:latin typeface="Times New Roman" panose="02020603050405020304" pitchFamily="18" charset="0"/>
              <a:ea typeface="Aptos"/>
              <a:cs typeface="Times New Roman" panose="02020603050405020304" pitchFamily="18" charset="0"/>
            </a:endParaRPr>
          </a:p>
          <a:p>
            <a:pPr>
              <a:lnSpc>
                <a:spcPct val="107000"/>
              </a:lnSpc>
              <a:spcAft>
                <a:spcPts val="800"/>
              </a:spcAft>
            </a:pPr>
            <a:r>
              <a:rPr lang="en-IN" sz="2400" b="1" kern="100" dirty="0">
                <a:effectLst/>
                <a:latin typeface="Times New Roman" panose="02020603050405020304" pitchFamily="18" charset="0"/>
                <a:ea typeface="Times New Roman" panose="02020603050405020304" pitchFamily="18" charset="0"/>
                <a:cs typeface="Times New Roman" panose="02020603050405020304" pitchFamily="18" charset="0"/>
              </a:rPr>
              <a:t>AISI 4130           </a:t>
            </a:r>
            <a:r>
              <a:rPr lang="en-IN" sz="2400" kern="100" dirty="0">
                <a:effectLst/>
                <a:latin typeface="Times New Roman" panose="02020603050405020304" pitchFamily="18" charset="0"/>
                <a:ea typeface="Times New Roman" panose="02020603050405020304" pitchFamily="18" charset="0"/>
                <a:cs typeface="Times New Roman" panose="02020603050405020304" pitchFamily="18" charset="0"/>
              </a:rPr>
              <a:t>    :  Higher strength, better load carrying capacity </a:t>
            </a:r>
            <a:endParaRPr lang="en-IN" sz="2400" kern="100" dirty="0">
              <a:effectLst/>
              <a:latin typeface="Times New Roman" panose="02020603050405020304" pitchFamily="18" charset="0"/>
              <a:ea typeface="Aptos"/>
              <a:cs typeface="Times New Roman" panose="02020603050405020304" pitchFamily="18" charset="0"/>
            </a:endParaRPr>
          </a:p>
          <a:p>
            <a:pPr>
              <a:lnSpc>
                <a:spcPct val="107000"/>
              </a:lnSpc>
              <a:spcAft>
                <a:spcPts val="800"/>
              </a:spcAft>
            </a:pPr>
            <a:r>
              <a:rPr lang="en-IN" sz="2400" b="1" kern="100" dirty="0">
                <a:effectLst/>
                <a:latin typeface="Times New Roman" panose="02020603050405020304" pitchFamily="18" charset="0"/>
                <a:ea typeface="Times New Roman" panose="02020603050405020304" pitchFamily="18" charset="0"/>
                <a:cs typeface="Times New Roman" panose="02020603050405020304" pitchFamily="18" charset="0"/>
              </a:rPr>
              <a:t>AA6061-T6           </a:t>
            </a:r>
            <a:r>
              <a:rPr lang="en-IN" sz="2400" kern="100" dirty="0">
                <a:effectLst/>
                <a:latin typeface="Times New Roman" panose="02020603050405020304" pitchFamily="18" charset="0"/>
                <a:ea typeface="Times New Roman" panose="02020603050405020304" pitchFamily="18" charset="0"/>
                <a:cs typeface="Times New Roman" panose="02020603050405020304" pitchFamily="18" charset="0"/>
              </a:rPr>
              <a:t>  : Lightweight, good corrosion resistance </a:t>
            </a:r>
            <a:endParaRPr lang="en-IN" sz="2400" kern="100" dirty="0">
              <a:effectLst/>
              <a:latin typeface="Times New Roman" panose="02020603050405020304" pitchFamily="18" charset="0"/>
              <a:ea typeface="Aptos"/>
              <a:cs typeface="Times New Roman" panose="02020603050405020304" pitchFamily="18" charset="0"/>
            </a:endParaRPr>
          </a:p>
          <a:p>
            <a:pPr>
              <a:lnSpc>
                <a:spcPct val="107000"/>
              </a:lnSpc>
              <a:spcAft>
                <a:spcPts val="800"/>
              </a:spcAft>
            </a:pPr>
            <a:r>
              <a:rPr lang="en-IN" sz="2400" b="1" kern="100" dirty="0">
                <a:effectLst/>
                <a:latin typeface="Times New Roman" panose="02020603050405020304" pitchFamily="18" charset="0"/>
                <a:ea typeface="Times New Roman" panose="02020603050405020304" pitchFamily="18" charset="0"/>
                <a:cs typeface="Times New Roman" panose="02020603050405020304" pitchFamily="18" charset="0"/>
              </a:rPr>
              <a:t>65Si7 spring steel</a:t>
            </a:r>
            <a:r>
              <a:rPr lang="en-IN" sz="2400" kern="100" dirty="0">
                <a:effectLst/>
                <a:latin typeface="Times New Roman" panose="02020603050405020304" pitchFamily="18" charset="0"/>
                <a:ea typeface="Times New Roman" panose="02020603050405020304" pitchFamily="18" charset="0"/>
                <a:cs typeface="Times New Roman" panose="02020603050405020304" pitchFamily="18" charset="0"/>
              </a:rPr>
              <a:t>   : Higher stiffness and fatigue strength </a:t>
            </a:r>
            <a:endParaRPr lang="en-IN" sz="2400" kern="100" dirty="0">
              <a:effectLst/>
              <a:latin typeface="Times New Roman" panose="02020603050405020304" pitchFamily="18" charset="0"/>
              <a:ea typeface="Aptos"/>
              <a:cs typeface="Times New Roman" panose="02020603050405020304" pitchFamily="18" charset="0"/>
            </a:endParaRPr>
          </a:p>
          <a:p>
            <a:pPr>
              <a:lnSpc>
                <a:spcPct val="107000"/>
              </a:lnSpc>
              <a:spcAft>
                <a:spcPts val="800"/>
              </a:spcAft>
            </a:pPr>
            <a:r>
              <a:rPr lang="en-IN" sz="2400" b="1" kern="100" dirty="0">
                <a:effectLst/>
                <a:latin typeface="Times New Roman" panose="02020603050405020304" pitchFamily="18" charset="0"/>
                <a:ea typeface="Times New Roman" panose="02020603050405020304" pitchFamily="18" charset="0"/>
                <a:cs typeface="Times New Roman" panose="02020603050405020304" pitchFamily="18" charset="0"/>
              </a:rPr>
              <a:t>Cr-Si steel             </a:t>
            </a:r>
            <a:r>
              <a:rPr lang="en-IN" sz="2400" kern="100" dirty="0">
                <a:effectLst/>
                <a:latin typeface="Times New Roman" panose="02020603050405020304" pitchFamily="18" charset="0"/>
                <a:ea typeface="Times New Roman" panose="02020603050405020304" pitchFamily="18" charset="0"/>
                <a:cs typeface="Times New Roman" panose="02020603050405020304" pitchFamily="18" charset="0"/>
              </a:rPr>
              <a:t>  : Good shock absorption and durability</a:t>
            </a:r>
            <a:endParaRPr lang="en-IN" sz="2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nSpc>
                <a:spcPct val="107000"/>
              </a:lnSpc>
              <a:spcAft>
                <a:spcPts val="800"/>
              </a:spcAft>
            </a:pPr>
            <a:r>
              <a:rPr lang="en-IN" sz="2400" kern="100" dirty="0">
                <a:latin typeface="Times New Roman" panose="02020603050405020304" pitchFamily="18" charset="0"/>
                <a:ea typeface="Aptos"/>
                <a:cs typeface="Times New Roman" panose="02020603050405020304" pitchFamily="18" charset="0"/>
              </a:rPr>
              <a:t>											</a:t>
            </a:r>
            <a:r>
              <a:rPr lang="en-IN" kern="100" dirty="0">
                <a:latin typeface="Times New Roman" panose="02020603050405020304" pitchFamily="18" charset="0"/>
                <a:ea typeface="Aptos"/>
                <a:cs typeface="Times New Roman" panose="02020603050405020304" pitchFamily="18" charset="0"/>
              </a:rPr>
              <a:t>                 28</a:t>
            </a:r>
            <a:endParaRPr lang="en-IN" kern="100" dirty="0">
              <a:effectLst/>
              <a:latin typeface="Times New Roman" panose="02020603050405020304" pitchFamily="18" charset="0"/>
              <a:ea typeface="Aptos"/>
              <a:cs typeface="Times New Roman" panose="02020603050405020304" pitchFamily="18" charset="0"/>
            </a:endParaRPr>
          </a:p>
          <a:p>
            <a:pPr>
              <a:lnSpc>
                <a:spcPct val="107000"/>
              </a:lnSpc>
              <a:spcAft>
                <a:spcPts val="800"/>
              </a:spcAft>
            </a:pPr>
            <a:r>
              <a:rPr lang="en-IN" sz="18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800" kern="100" dirty="0">
              <a:effectLst/>
              <a:latin typeface="Aptos"/>
              <a:ea typeface="Aptos"/>
              <a:cs typeface="Times New Roman" panose="02020603050405020304" pitchFamily="18" charset="0"/>
            </a:endParaRPr>
          </a:p>
          <a:p>
            <a:pPr>
              <a:lnSpc>
                <a:spcPct val="107000"/>
              </a:lnSpc>
              <a:spcAft>
                <a:spcPts val="800"/>
              </a:spcAft>
            </a:pPr>
            <a:r>
              <a:rPr lang="en-IN" sz="1800" b="1" kern="1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800" kern="100" dirty="0">
              <a:effectLst/>
              <a:latin typeface="Aptos"/>
              <a:ea typeface="Aptos"/>
              <a:cs typeface="Times New Roman" panose="02020603050405020304" pitchFamily="18" charset="0"/>
            </a:endParaRPr>
          </a:p>
          <a:p>
            <a:pPr marL="457200" indent="-457200">
              <a:lnSpc>
                <a:spcPct val="107000"/>
              </a:lnSpc>
              <a:spcAft>
                <a:spcPts val="800"/>
              </a:spcAft>
              <a:buFont typeface="Arial" panose="020B0604020202020204" pitchFamily="34" charset="0"/>
              <a:buChar char="•"/>
            </a:pPr>
            <a:endParaRPr lang="en-IN" sz="2800" kern="100" dirty="0">
              <a:latin typeface="Times New Roman" panose="02020603050405020304" pitchFamily="18" charset="0"/>
              <a:ea typeface="Aptos"/>
              <a:cs typeface="Times New Roman" panose="02020603050405020304" pitchFamily="18" charset="0"/>
            </a:endParaRPr>
          </a:p>
          <a:p>
            <a:pPr>
              <a:lnSpc>
                <a:spcPct val="107000"/>
              </a:lnSpc>
              <a:spcAft>
                <a:spcPts val="800"/>
              </a:spcAft>
            </a:pPr>
            <a:endParaRPr lang="en-IN" sz="2800" kern="100" dirty="0">
              <a:effectLst/>
              <a:latin typeface="Aptos"/>
              <a:ea typeface="Aptos"/>
              <a:cs typeface="Times New Roman" panose="02020603050405020304" pitchFamily="18" charset="0"/>
            </a:endParaRPr>
          </a:p>
          <a:p>
            <a:pPr>
              <a:lnSpc>
                <a:spcPct val="107000"/>
              </a:lnSpc>
              <a:spcAft>
                <a:spcPts val="800"/>
              </a:spcAft>
            </a:pPr>
            <a:r>
              <a:rPr lang="en-IN" sz="18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800" kern="100" dirty="0">
              <a:effectLst/>
              <a:latin typeface="Aptos"/>
              <a:ea typeface="Aptos"/>
              <a:cs typeface="Times New Roman" panose="02020603050405020304" pitchFamily="18" charset="0"/>
            </a:endParaRPr>
          </a:p>
          <a:p>
            <a:endParaRPr lang="en-IN"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58076" y="125522"/>
            <a:ext cx="7216987" cy="553998"/>
          </a:xfrm>
        </p:spPr>
        <p:txBody>
          <a:bodyPr/>
          <a:lstStyle/>
          <a:p>
            <a:r>
              <a:rPr lang="en-US" sz="3600" dirty="0">
                <a:latin typeface="Arial Rounded MT Bold" panose="020F0704030504030204" pitchFamily="34" charset="0"/>
              </a:rPr>
              <a:t>Results</a:t>
            </a:r>
            <a:endParaRPr lang="en-IN" sz="3600" dirty="0"/>
          </a:p>
        </p:txBody>
      </p:sp>
      <p:sp>
        <p:nvSpPr>
          <p:cNvPr id="3" name="Text Placeholder 2"/>
          <p:cNvSpPr>
            <a:spLocks noGrp="1"/>
          </p:cNvSpPr>
          <p:nvPr>
            <p:ph type="body" idx="1"/>
          </p:nvPr>
        </p:nvSpPr>
        <p:spPr>
          <a:xfrm>
            <a:off x="450426" y="1425247"/>
            <a:ext cx="11629814" cy="4859792"/>
          </a:xfrm>
        </p:spPr>
        <p:txBody>
          <a:bodyPr/>
          <a:lstStyle/>
          <a:p>
            <a:r>
              <a:rPr lang="en-IN" sz="2800" b="1" kern="100" dirty="0">
                <a:effectLst/>
                <a:latin typeface="Times New Roman" panose="02020603050405020304" pitchFamily="18" charset="0"/>
                <a:ea typeface="Times New Roman" panose="02020603050405020304" pitchFamily="18" charset="0"/>
                <a:cs typeface="Times New Roman" panose="02020603050405020304" pitchFamily="18" charset="0"/>
              </a:rPr>
              <a:t>Best Combination (Recommended):</a:t>
            </a:r>
            <a:endParaRPr lang="en-IN" sz="2800" b="1"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br>
              <a:rPr lang="en-IN" sz="2800"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IN" sz="2800" b="1" kern="100" dirty="0">
                <a:effectLst/>
                <a:latin typeface="Times New Roman" panose="02020603050405020304" pitchFamily="18" charset="0"/>
                <a:ea typeface="Times New Roman" panose="02020603050405020304" pitchFamily="18" charset="0"/>
                <a:cs typeface="Times New Roman" panose="02020603050405020304" pitchFamily="18" charset="0"/>
              </a:rPr>
              <a:t>AISI 4130 (Control Arm) + 65Si7 (Spring)</a:t>
            </a:r>
            <a:endParaRPr lang="en-IN" sz="2800" b="1"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sz="2800" b="1" kern="100" dirty="0">
              <a:latin typeface="Times New Roman" panose="02020603050405020304" pitchFamily="18" charset="0"/>
              <a:ea typeface="Aptos"/>
              <a:cs typeface="Times New Roman" panose="02020603050405020304" pitchFamily="18" charset="0"/>
            </a:endParaRPr>
          </a:p>
          <a:p>
            <a:pPr algn="just">
              <a:lnSpc>
                <a:spcPct val="107000"/>
              </a:lnSpc>
              <a:spcAft>
                <a:spcPts val="800"/>
              </a:spcAft>
            </a:pPr>
            <a:r>
              <a:rPr lang="en-IN" sz="2800" b="1" kern="100" dirty="0">
                <a:effectLst/>
                <a:latin typeface="Times New Roman" panose="02020603050405020304" pitchFamily="18" charset="0"/>
                <a:ea typeface="Times New Roman" panose="02020603050405020304" pitchFamily="18" charset="0"/>
                <a:cs typeface="Times New Roman" panose="02020603050405020304" pitchFamily="18" charset="0"/>
              </a:rPr>
              <a:t>Reason:</a:t>
            </a:r>
            <a:endParaRPr lang="en-IN" sz="2800" kern="100" dirty="0">
              <a:effectLst/>
              <a:latin typeface="Aptos"/>
              <a:ea typeface="Aptos"/>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en-IN" sz="2800" kern="100" dirty="0">
                <a:effectLst/>
                <a:latin typeface="Times New Roman" panose="02020603050405020304" pitchFamily="18" charset="0"/>
                <a:ea typeface="Times New Roman" panose="02020603050405020304" pitchFamily="18" charset="0"/>
                <a:cs typeface="Times New Roman" panose="02020603050405020304" pitchFamily="18" charset="0"/>
              </a:rPr>
              <a:t>Higher strength and stiffness </a:t>
            </a:r>
            <a:endParaRPr lang="en-IN" sz="2800" kern="100" dirty="0">
              <a:effectLst/>
              <a:latin typeface="Aptos"/>
              <a:ea typeface="Aptos"/>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en-IN" sz="2800" kern="100" dirty="0">
                <a:effectLst/>
                <a:latin typeface="Times New Roman" panose="02020603050405020304" pitchFamily="18" charset="0"/>
                <a:ea typeface="Times New Roman" panose="02020603050405020304" pitchFamily="18" charset="0"/>
                <a:cs typeface="Times New Roman" panose="02020603050405020304" pitchFamily="18" charset="0"/>
              </a:rPr>
              <a:t>More suitable for heavy-duty and high-load conditions.</a:t>
            </a:r>
            <a:endParaRPr lang="en-IN" sz="2800" kern="100" dirty="0">
              <a:effectLst/>
              <a:latin typeface="Aptos"/>
              <a:ea typeface="Aptos"/>
              <a:cs typeface="Times New Roman" panose="02020603050405020304" pitchFamily="18" charset="0"/>
            </a:endParaRPr>
          </a:p>
          <a:p>
            <a:pPr marL="228600" algn="just">
              <a:lnSpc>
                <a:spcPct val="107000"/>
              </a:lnSpc>
              <a:spcAft>
                <a:spcPts val="800"/>
              </a:spcAft>
            </a:pPr>
            <a:r>
              <a:rPr lang="en-IN" sz="18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800" kern="100" dirty="0">
              <a:effectLst/>
              <a:latin typeface="Aptos"/>
              <a:ea typeface="Aptos"/>
              <a:cs typeface="Times New Roman" panose="02020603050405020304" pitchFamily="18" charset="0"/>
            </a:endParaRPr>
          </a:p>
          <a:p>
            <a:endParaRPr lang="en-IN" sz="2800" kern="100" dirty="0">
              <a:effectLst/>
              <a:latin typeface="Aptos"/>
              <a:ea typeface="Aptos"/>
              <a:cs typeface="Times New Roman" panose="02020603050405020304" pitchFamily="18" charset="0"/>
            </a:endParaRPr>
          </a:p>
          <a:p>
            <a:endParaRPr lang="en-IN" dirty="0"/>
          </a:p>
          <a:p>
            <a:r>
              <a:rPr lang="en-IN" dirty="0"/>
              <a:t>												      29</a:t>
            </a:r>
            <a:endParaRPr lang="en-IN"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8396" y="156002"/>
            <a:ext cx="7216987" cy="553998"/>
          </a:xfrm>
        </p:spPr>
        <p:txBody>
          <a:bodyPr/>
          <a:lstStyle/>
          <a:p>
            <a:r>
              <a:rPr lang="en-US" sz="3600" dirty="0">
                <a:latin typeface="Arial Rounded MT Bold" panose="020F0704030504030204" pitchFamily="34" charset="0"/>
              </a:rPr>
              <a:t>Conclusion </a:t>
            </a:r>
            <a:endParaRPr lang="en-IN" sz="3600" dirty="0">
              <a:latin typeface="Arial Rounded MT Bold" panose="020F0704030504030204" pitchFamily="34" charset="0"/>
            </a:endParaRPr>
          </a:p>
        </p:txBody>
      </p:sp>
      <p:sp>
        <p:nvSpPr>
          <p:cNvPr id="3" name="Text Placeholder 2"/>
          <p:cNvSpPr>
            <a:spLocks noGrp="1"/>
          </p:cNvSpPr>
          <p:nvPr>
            <p:ph type="body" idx="1"/>
          </p:nvPr>
        </p:nvSpPr>
        <p:spPr>
          <a:xfrm>
            <a:off x="318346" y="1181407"/>
            <a:ext cx="11741574" cy="4999061"/>
          </a:xfrm>
        </p:spPr>
        <p:txBody>
          <a:bodyPr/>
          <a:lstStyle/>
          <a:p>
            <a:pPr marL="457200" indent="-457200" algn="l">
              <a:lnSpc>
                <a:spcPct val="107000"/>
              </a:lnSpc>
              <a:spcAft>
                <a:spcPts val="800"/>
              </a:spcAft>
              <a:buFont typeface="Arial" panose="020B0604020202020204" pitchFamily="34" charset="0"/>
              <a:buChar char="•"/>
            </a:pPr>
            <a:r>
              <a:rPr lang="en-IN" sz="2800" kern="100" dirty="0">
                <a:effectLst/>
                <a:latin typeface="Times New Roman" panose="02020603050405020304" pitchFamily="18" charset="0"/>
                <a:ea typeface="Times New Roman" panose="02020603050405020304" pitchFamily="18" charset="0"/>
                <a:cs typeface="Times New Roman" panose="02020603050405020304" pitchFamily="18" charset="0"/>
              </a:rPr>
              <a:t>The static structural analysis of the wishbone suspension system was carried out using ANSYS to evaluate the deformation </a:t>
            </a:r>
            <a:r>
              <a:rPr lang="en-IN" sz="2800" kern="100" dirty="0" err="1">
                <a:effectLst/>
                <a:latin typeface="Times New Roman" panose="02020603050405020304" pitchFamily="18" charset="0"/>
                <a:ea typeface="Times New Roman" panose="02020603050405020304" pitchFamily="18" charset="0"/>
                <a:cs typeface="Times New Roman" panose="02020603050405020304" pitchFamily="18" charset="0"/>
              </a:rPr>
              <a:t>behavior</a:t>
            </a:r>
            <a:r>
              <a:rPr lang="en-IN" sz="2800" kern="100" dirty="0">
                <a:effectLst/>
                <a:latin typeface="Times New Roman" panose="02020603050405020304" pitchFamily="18" charset="0"/>
                <a:ea typeface="Times New Roman" panose="02020603050405020304" pitchFamily="18" charset="0"/>
                <a:cs typeface="Times New Roman" panose="02020603050405020304" pitchFamily="18" charset="0"/>
              </a:rPr>
              <a:t> under applied loads. considering strength, stiffness, the combination of AISI 4130 for the control arms and 65Si7 for the spring is found to be more suitable for high-load conditions. </a:t>
            </a:r>
            <a:endParaRPr lang="en-IN" sz="28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457200" indent="-457200" algn="l">
              <a:lnSpc>
                <a:spcPct val="107000"/>
              </a:lnSpc>
              <a:spcAft>
                <a:spcPts val="800"/>
              </a:spcAft>
              <a:buFont typeface="Arial" panose="020B0604020202020204" pitchFamily="34" charset="0"/>
              <a:buChar char="•"/>
            </a:pPr>
            <a:r>
              <a:rPr lang="en-IN" sz="2800" kern="100" dirty="0">
                <a:effectLst/>
                <a:latin typeface="Times New Roman" panose="02020603050405020304" pitchFamily="18" charset="0"/>
                <a:ea typeface="Times New Roman" panose="02020603050405020304" pitchFamily="18" charset="0"/>
                <a:cs typeface="Times New Roman" panose="02020603050405020304" pitchFamily="18" charset="0"/>
              </a:rPr>
              <a:t>Hence, this material combination is recommended for better durability and overall performance of the suspension system, while AA6061-T6 can be preferred when weight reduction is a priority.</a:t>
            </a:r>
            <a:endParaRPr lang="en-IN" sz="2800" kern="100" dirty="0">
              <a:effectLst/>
              <a:latin typeface="Aptos"/>
              <a:ea typeface="Aptos"/>
              <a:cs typeface="Times New Roman" panose="02020603050405020304" pitchFamily="18" charset="0"/>
            </a:endParaRPr>
          </a:p>
          <a:p>
            <a:pPr algn="just">
              <a:lnSpc>
                <a:spcPct val="107000"/>
              </a:lnSpc>
              <a:spcAft>
                <a:spcPts val="800"/>
              </a:spcAft>
            </a:pPr>
            <a:r>
              <a:rPr lang="en-IN" sz="18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800" kern="100" dirty="0">
              <a:effectLst/>
              <a:latin typeface="Aptos"/>
              <a:ea typeface="Aptos"/>
              <a:cs typeface="Times New Roman" panose="02020603050405020304" pitchFamily="18" charset="0"/>
            </a:endParaRPr>
          </a:p>
          <a:p>
            <a:pPr algn="just">
              <a:lnSpc>
                <a:spcPct val="107000"/>
              </a:lnSpc>
              <a:spcAft>
                <a:spcPts val="800"/>
              </a:spcAft>
            </a:pPr>
            <a:r>
              <a:rPr lang="en-IN" sz="1800" b="1" kern="100" dirty="0">
                <a:effectLst/>
                <a:latin typeface="Times New Roman" panose="02020603050405020304" pitchFamily="18" charset="0"/>
                <a:ea typeface="Aptos"/>
                <a:cs typeface="Times New Roman" panose="02020603050405020304" pitchFamily="18" charset="0"/>
              </a:rPr>
              <a:t> </a:t>
            </a:r>
            <a:endParaRPr lang="en-IN" sz="1800" kern="100" dirty="0">
              <a:effectLst/>
              <a:latin typeface="Aptos"/>
              <a:ea typeface="Aptos"/>
              <a:cs typeface="Times New Roman" panose="02020603050405020304" pitchFamily="18" charset="0"/>
            </a:endParaRPr>
          </a:p>
          <a:p>
            <a:r>
              <a:rPr lang="en-IN" dirty="0"/>
              <a:t>												    30</a:t>
            </a:r>
            <a:endParaRPr lang="en-IN" dirty="0"/>
          </a:p>
        </p:txBody>
      </p:sp>
    </p:spTree>
  </p:cSld>
  <p:clrMapOvr>
    <a:masterClrMapping/>
  </p:clrMapOvr>
</p:sld>
</file>

<file path=ppt/theme/theme1.xml><?xml version="1.0" encoding="utf-8"?>
<a:theme xmlns:a="http://schemas.openxmlformats.org/drawingml/2006/main" name="3dof_Review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12013</Words>
  <Application>WPS Presentation</Application>
  <PresentationFormat>Widescreen</PresentationFormat>
  <Paragraphs>472</Paragraphs>
  <Slides>30</Slides>
  <Notes>0</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30</vt:i4>
      </vt:variant>
    </vt:vector>
  </HeadingPairs>
  <TitlesOfParts>
    <vt:vector size="47" baseType="lpstr">
      <vt:lpstr>Arial</vt:lpstr>
      <vt:lpstr>SimSun</vt:lpstr>
      <vt:lpstr>Wingdings</vt:lpstr>
      <vt:lpstr>Arial</vt:lpstr>
      <vt:lpstr>Times New Roman</vt:lpstr>
      <vt:lpstr>Arial MT</vt:lpstr>
      <vt:lpstr>Times New Roman</vt:lpstr>
      <vt:lpstr>Arial Rounded MT Bold</vt:lpstr>
      <vt:lpstr>pplxSerif</vt:lpstr>
      <vt:lpstr>Segoe Print</vt:lpstr>
      <vt:lpstr>Aptos</vt:lpstr>
      <vt:lpstr>Segoe UI</vt:lpstr>
      <vt:lpstr>Calibri</vt:lpstr>
      <vt:lpstr>Microsoft YaHei</vt:lpstr>
      <vt:lpstr>Arial Unicode MS</vt:lpstr>
      <vt:lpstr>Symbol</vt:lpstr>
      <vt:lpstr>3dof_Review1</vt:lpstr>
      <vt:lpstr>PowerPoint 演示文稿</vt:lpstr>
      <vt:lpstr>Objective</vt:lpstr>
      <vt:lpstr>Problem statement </vt:lpstr>
      <vt:lpstr>Literature Survey</vt:lpstr>
      <vt:lpstr>Methodology</vt:lpstr>
      <vt:lpstr>Refrences</vt:lpstr>
      <vt:lpstr>2d Dimensions</vt:lpstr>
      <vt:lpstr>2d Dimensions</vt:lpstr>
      <vt:lpstr>2d Dimensions</vt:lpstr>
      <vt:lpstr>3D Design</vt:lpstr>
      <vt:lpstr>3D Design</vt:lpstr>
      <vt:lpstr>3D Design</vt:lpstr>
      <vt:lpstr>3D design</vt:lpstr>
      <vt:lpstr>3D design</vt:lpstr>
      <vt:lpstr>Car Weight=1750 Kg  4 person in car(70 kg each)= 280 Kg  Total Mass= 2030 Kg  Converted in Newton =2030*9.81=19,914 N  Wheel Load =Total Load/ no of Wheel=19,914/4=4978.5 N  Dynamic Load=Dynamic Load *Wheel Load=1.44*4978.5=7170N  Spring Force=motion factor*Wheel Load=0.69*4978.5=3435N   											  15    </vt:lpstr>
      <vt:lpstr>Load Remaining For Control Arm:       Load Arm=Dynamic Load-Spring                        =7170-3435                        =3735N    Lower Arm(60%)=0.60*3735                                     =2241N     Upper Arm(40%)=0.40*3735                                    =1494N Where: Dynamic load-It is a time-varying force acting on the suspension component due to road irregularities, vehicle acceleration, braking, and cornering during motion.  Motion ratio- It is the ratio of the suspension component's displacement to the wheel's displacement, used to relate wheel forces and movements to the spring/damper in the suspension system.  											  												     16  </vt:lpstr>
      <vt:lpstr>Materials</vt:lpstr>
      <vt:lpstr>Material Properties</vt:lpstr>
      <vt:lpstr>Material Properties</vt:lpstr>
      <vt:lpstr>Analysis </vt:lpstr>
      <vt:lpstr>Analysis </vt:lpstr>
      <vt:lpstr>Analysis </vt:lpstr>
      <vt:lpstr>Analysis </vt:lpstr>
      <vt:lpstr>Analysis </vt:lpstr>
      <vt:lpstr>Analysis </vt:lpstr>
      <vt:lpstr>Analysis</vt:lpstr>
      <vt:lpstr>Analysis</vt:lpstr>
      <vt:lpstr>Results</vt:lpstr>
      <vt:lpstr>Results</vt:lpstr>
      <vt:lpstr>Conclusion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Siva</dc:creator>
  <cp:lastModifiedBy>barat</cp:lastModifiedBy>
  <cp:revision>5</cp:revision>
  <dcterms:created xsi:type="dcterms:W3CDTF">2026-05-06T05:16:00Z</dcterms:created>
  <dcterms:modified xsi:type="dcterms:W3CDTF">2026-09-21T18:09:54Z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805CB3B1F9334CE3A87577A1D12AC92A_12</vt:lpwstr>
  </property>
  <property fmtid="{D5CDD505-2E9C-101B-9397-08002B2CF9AE}" pid="3" name="KSOProductBuildVer">
    <vt:lpwstr>1033-12.1.0.28485</vt:lpwstr>
  </property>
</Properties>
</file>